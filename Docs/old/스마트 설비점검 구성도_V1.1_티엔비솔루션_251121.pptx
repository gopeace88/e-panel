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"/>
  </p:notesMasterIdLst>
  <p:handoutMasterIdLst>
    <p:handoutMasterId r:id="rId5"/>
  </p:handoutMasterIdLst>
  <p:sldIdLst>
    <p:sldId id="572" r:id="rId2"/>
    <p:sldId id="706" r:id="rId3"/>
  </p:sldIdLst>
  <p:sldSz cx="14912975" cy="8388350"/>
  <p:notesSz cx="6858000" cy="9979025"/>
  <p:defaultTextStyle>
    <a:defPPr>
      <a:defRPr lang="ko-KR"/>
    </a:defPPr>
    <a:lvl1pPr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06" userDrawn="1">
          <p15:clr>
            <a:srgbClr val="A4A3A4"/>
          </p15:clr>
        </p15:guide>
        <p15:guide id="2" orient="horz" pos="4918" userDrawn="1">
          <p15:clr>
            <a:srgbClr val="A4A3A4"/>
          </p15:clr>
        </p15:guide>
        <p15:guide id="3" orient="horz" pos="2088" userDrawn="1">
          <p15:clr>
            <a:srgbClr val="A4A3A4"/>
          </p15:clr>
        </p15:guide>
        <p15:guide id="4" orient="horz" pos="2031" userDrawn="1">
          <p15:clr>
            <a:srgbClr val="A4A3A4"/>
          </p15:clr>
        </p15:guide>
        <p15:guide id="5" orient="horz" pos="4972" userDrawn="1">
          <p15:clr>
            <a:srgbClr val="A4A3A4"/>
          </p15:clr>
        </p15:guide>
        <p15:guide id="6" pos="481" userDrawn="1">
          <p15:clr>
            <a:srgbClr val="A4A3A4"/>
          </p15:clr>
        </p15:guide>
        <p15:guide id="7" pos="9061" userDrawn="1">
          <p15:clr>
            <a:srgbClr val="A4A3A4"/>
          </p15:clr>
        </p15:guide>
        <p15:guide id="8" pos="50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9495A"/>
    <a:srgbClr val="EAEAEA"/>
    <a:srgbClr val="EB5C35"/>
    <a:srgbClr val="CCFFFF"/>
    <a:srgbClr val="CCFFCC"/>
    <a:srgbClr val="CCCCFF"/>
    <a:srgbClr val="C0C0C0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73" autoAdjust="0"/>
    <p:restoredTop sz="95392" autoAdjust="0"/>
  </p:normalViewPr>
  <p:slideViewPr>
    <p:cSldViewPr>
      <p:cViewPr>
        <p:scale>
          <a:sx n="75" d="100"/>
          <a:sy n="75" d="100"/>
        </p:scale>
        <p:origin x="-898" y="-595"/>
      </p:cViewPr>
      <p:guideLst>
        <p:guide orient="horz" pos="4306"/>
        <p:guide orient="horz" pos="4918"/>
        <p:guide orient="horz" pos="2088"/>
        <p:guide orient="horz" pos="2031"/>
        <p:guide orient="horz" pos="4972"/>
        <p:guide pos="481"/>
        <p:guide pos="9061"/>
        <p:guide pos="50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0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3854" y="1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/>
          <a:lstStyle>
            <a:lvl1pPr algn="r">
              <a:defRPr sz="1200"/>
            </a:lvl1pPr>
          </a:lstStyle>
          <a:p>
            <a:fld id="{DEB0A140-3A22-4BB2-8273-514C970A4F52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79515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3854" y="9479515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 anchor="b"/>
          <a:lstStyle>
            <a:lvl1pPr algn="r">
              <a:defRPr sz="1200"/>
            </a:lvl1pPr>
          </a:lstStyle>
          <a:p>
            <a:fld id="{EF660EA6-DF2E-4E4D-B2DA-B8601ACC9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65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72547" cy="499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854" y="1"/>
            <a:ext cx="2972547" cy="499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482" y="4741356"/>
            <a:ext cx="5487040" cy="4489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77921"/>
            <a:ext cx="2972547" cy="49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854" y="9477921"/>
            <a:ext cx="2972547" cy="49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fld id="{13B21F1C-94D5-44C5-95BD-D104836D8E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63270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" y="730250"/>
            <a:ext cx="6442075" cy="3624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599" y="4598681"/>
            <a:ext cx="4809028" cy="435566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8950" tIns="44474" rIns="88950" bIns="44474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9952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122DB2A-A04B-D64A-BB2B-DBD397C1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="" xmlns:a16="http://schemas.microsoft.com/office/drawing/2014/main" id="{C6A977BC-F955-7064-0E3A-DA92D9E1C1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731838"/>
            <a:ext cx="6453187" cy="3630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5DD56DF9-C364-8638-1D3C-CF4E41F98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614" y="4607460"/>
            <a:ext cx="4814594" cy="436397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078" tIns="44538" rIns="89078" bIns="44538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880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122" y="1372816"/>
            <a:ext cx="11184731" cy="2920389"/>
          </a:xfrm>
        </p:spPr>
        <p:txBody>
          <a:bodyPr anchor="b"/>
          <a:lstStyle>
            <a:lvl1pPr algn="ctr">
              <a:defRPr sz="7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4122" y="4405826"/>
            <a:ext cx="11184731" cy="2025242"/>
          </a:xfrm>
        </p:spPr>
        <p:txBody>
          <a:bodyPr/>
          <a:lstStyle>
            <a:lvl1pPr marL="0" indent="0" algn="ctr">
              <a:buNone/>
              <a:defRPr sz="2935"/>
            </a:lvl1pPr>
            <a:lvl2pPr marL="559201" indent="0" algn="ctr">
              <a:buNone/>
              <a:defRPr sz="2446"/>
            </a:lvl2pPr>
            <a:lvl3pPr marL="1118403" indent="0" algn="ctr">
              <a:buNone/>
              <a:defRPr sz="2202"/>
            </a:lvl3pPr>
            <a:lvl4pPr marL="1677604" indent="0" algn="ctr">
              <a:buNone/>
              <a:defRPr sz="1957"/>
            </a:lvl4pPr>
            <a:lvl5pPr marL="2236805" indent="0" algn="ctr">
              <a:buNone/>
              <a:defRPr sz="1957"/>
            </a:lvl5pPr>
            <a:lvl6pPr marL="2796007" indent="0" algn="ctr">
              <a:buNone/>
              <a:defRPr sz="1957"/>
            </a:lvl6pPr>
            <a:lvl7pPr marL="3355208" indent="0" algn="ctr">
              <a:buNone/>
              <a:defRPr sz="1957"/>
            </a:lvl7pPr>
            <a:lvl8pPr marL="3914409" indent="0" algn="ctr">
              <a:buNone/>
              <a:defRPr sz="1957"/>
            </a:lvl8pPr>
            <a:lvl9pPr marL="4473611" indent="0" algn="ctr">
              <a:buNone/>
              <a:defRPr sz="195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0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1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500" y="2091263"/>
            <a:ext cx="12862441" cy="3489320"/>
          </a:xfrm>
        </p:spPr>
        <p:txBody>
          <a:bodyPr anchor="b"/>
          <a:lstStyle>
            <a:lvl1pPr>
              <a:defRPr sz="7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500" y="5613594"/>
            <a:ext cx="12862441" cy="1834951"/>
          </a:xfrm>
        </p:spPr>
        <p:txBody>
          <a:bodyPr/>
          <a:lstStyle>
            <a:lvl1pPr marL="0" indent="0">
              <a:buNone/>
              <a:defRPr sz="2935">
                <a:solidFill>
                  <a:schemeClr val="tx1">
                    <a:tint val="75000"/>
                  </a:schemeClr>
                </a:solidFill>
              </a:defRPr>
            </a:lvl1pPr>
            <a:lvl2pPr marL="559201" indent="0">
              <a:buNone/>
              <a:defRPr sz="2446">
                <a:solidFill>
                  <a:schemeClr val="tx1">
                    <a:tint val="75000"/>
                  </a:schemeClr>
                </a:solidFill>
              </a:defRPr>
            </a:lvl2pPr>
            <a:lvl3pPr marL="1118403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3pPr>
            <a:lvl4pPr marL="1677604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4pPr>
            <a:lvl5pPr marL="2236805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5pPr>
            <a:lvl6pPr marL="2796007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6pPr>
            <a:lvl7pPr marL="3355208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7pPr>
            <a:lvl8pPr marL="3914409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8pPr>
            <a:lvl9pPr marL="4473611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7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5267" y="2233010"/>
            <a:ext cx="6338014" cy="532233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9694" y="2233010"/>
            <a:ext cx="6338014" cy="532233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09" y="446603"/>
            <a:ext cx="12862441" cy="16213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10" y="2056312"/>
            <a:ext cx="6308887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7210" y="3064078"/>
            <a:ext cx="6308887" cy="450679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9693" y="2056312"/>
            <a:ext cx="6339957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9693" y="3064078"/>
            <a:ext cx="6339957" cy="450679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5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9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62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10" y="559223"/>
            <a:ext cx="480982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9957" y="1207768"/>
            <a:ext cx="7549694" cy="5961165"/>
          </a:xfrm>
        </p:spPr>
        <p:txBody>
          <a:bodyPr/>
          <a:lstStyle>
            <a:lvl1pPr>
              <a:defRPr sz="3914"/>
            </a:lvl1pPr>
            <a:lvl2pPr>
              <a:defRPr sz="3425"/>
            </a:lvl2pPr>
            <a:lvl3pPr>
              <a:defRPr sz="2935"/>
            </a:lvl3pPr>
            <a:lvl4pPr>
              <a:defRPr sz="2446"/>
            </a:lvl4pPr>
            <a:lvl5pPr>
              <a:defRPr sz="2446"/>
            </a:lvl5pPr>
            <a:lvl6pPr>
              <a:defRPr sz="2446"/>
            </a:lvl6pPr>
            <a:lvl7pPr>
              <a:defRPr sz="2446"/>
            </a:lvl7pPr>
            <a:lvl8pPr>
              <a:defRPr sz="2446"/>
            </a:lvl8pPr>
            <a:lvl9pPr>
              <a:defRPr sz="2446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7210" y="2516505"/>
            <a:ext cx="480982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4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10" y="559223"/>
            <a:ext cx="480982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39957" y="1207768"/>
            <a:ext cx="7549694" cy="5961165"/>
          </a:xfrm>
        </p:spPr>
        <p:txBody>
          <a:bodyPr anchor="t"/>
          <a:lstStyle>
            <a:lvl1pPr marL="0" indent="0">
              <a:buNone/>
              <a:defRPr sz="3914"/>
            </a:lvl1pPr>
            <a:lvl2pPr marL="559201" indent="0">
              <a:buNone/>
              <a:defRPr sz="3425"/>
            </a:lvl2pPr>
            <a:lvl3pPr marL="1118403" indent="0">
              <a:buNone/>
              <a:defRPr sz="2935"/>
            </a:lvl3pPr>
            <a:lvl4pPr marL="1677604" indent="0">
              <a:buNone/>
              <a:defRPr sz="2446"/>
            </a:lvl4pPr>
            <a:lvl5pPr marL="2236805" indent="0">
              <a:buNone/>
              <a:defRPr sz="2446"/>
            </a:lvl5pPr>
            <a:lvl6pPr marL="2796007" indent="0">
              <a:buNone/>
              <a:defRPr sz="2446"/>
            </a:lvl6pPr>
            <a:lvl7pPr marL="3355208" indent="0">
              <a:buNone/>
              <a:defRPr sz="2446"/>
            </a:lvl7pPr>
            <a:lvl8pPr marL="3914409" indent="0">
              <a:buNone/>
              <a:defRPr sz="2446"/>
            </a:lvl8pPr>
            <a:lvl9pPr marL="4473611" indent="0">
              <a:buNone/>
              <a:defRPr sz="244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7210" y="2516505"/>
            <a:ext cx="480982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4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3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72098" y="446602"/>
            <a:ext cx="3215610" cy="71087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267" y="446602"/>
            <a:ext cx="9460419" cy="71087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7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5267" y="446603"/>
            <a:ext cx="12862441" cy="16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5267" y="2233010"/>
            <a:ext cx="12862441" cy="5322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267" y="7774758"/>
            <a:ext cx="335541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39923" y="7774758"/>
            <a:ext cx="503312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2289" y="7774758"/>
            <a:ext cx="335541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Line 30"/>
          <p:cNvSpPr>
            <a:spLocks noChangeShapeType="1"/>
          </p:cNvSpPr>
          <p:nvPr userDrawn="1"/>
        </p:nvSpPr>
        <p:spPr bwMode="auto">
          <a:xfrm flipH="1">
            <a:off x="644679" y="671845"/>
            <a:ext cx="14268299" cy="0"/>
          </a:xfrm>
          <a:prstGeom prst="line">
            <a:avLst/>
          </a:prstGeom>
          <a:noFill/>
          <a:ln w="57150" cmpd="thickThin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 sz="1517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046" y="161727"/>
            <a:ext cx="2232249" cy="5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1118403" rtl="0" eaLnBrk="1" latinLnBrk="1" hangingPunct="1">
        <a:lnSpc>
          <a:spcPct val="90000"/>
        </a:lnSpc>
        <a:spcBef>
          <a:spcPct val="0"/>
        </a:spcBef>
        <a:buNone/>
        <a:defRPr sz="53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601" indent="-279601" algn="l" defTabSz="1118403" rtl="0" eaLnBrk="1" latinLnBrk="1" hangingPunct="1">
        <a:lnSpc>
          <a:spcPct val="90000"/>
        </a:lnSpc>
        <a:spcBef>
          <a:spcPts val="1223"/>
        </a:spcBef>
        <a:buFont typeface="Arial" panose="020B0604020202020204" pitchFamily="34" charset="0"/>
        <a:buChar char="•"/>
        <a:defRPr sz="3425" kern="1200">
          <a:solidFill>
            <a:schemeClr val="tx1"/>
          </a:solidFill>
          <a:latin typeface="+mn-lt"/>
          <a:ea typeface="+mn-ea"/>
          <a:cs typeface="+mn-cs"/>
        </a:defRPr>
      </a:lvl1pPr>
      <a:lvl2pPr marL="838802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2pPr>
      <a:lvl3pPr marL="1398003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446" kern="1200">
          <a:solidFill>
            <a:schemeClr val="tx1"/>
          </a:solidFill>
          <a:latin typeface="+mn-lt"/>
          <a:ea typeface="+mn-ea"/>
          <a:cs typeface="+mn-cs"/>
        </a:defRPr>
      </a:lvl3pPr>
      <a:lvl4pPr marL="1957205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516406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3075607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634809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4194010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753211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1pPr>
      <a:lvl2pPr marL="559201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2pPr>
      <a:lvl3pPr marL="1118403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677604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236805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2796007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355208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3914409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473611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2923844" y="3100785"/>
            <a:ext cx="9065302" cy="12095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latinLnBrk="1" hangingPunct="1">
              <a:spcBef>
                <a:spcPct val="50000"/>
              </a:spcBef>
              <a:buNone/>
              <a:defRPr/>
            </a:pPr>
            <a:r>
              <a:rPr lang="ko-KR" altLang="en-US" sz="6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스마트 설비점검 구성도</a:t>
            </a:r>
            <a:endParaRPr lang="en-US" altLang="ko-KR" sz="6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2" name="Text Box 3"/>
          <p:cNvSpPr txBox="1">
            <a:spLocks noChangeArrowheads="1"/>
          </p:cNvSpPr>
          <p:nvPr/>
        </p:nvSpPr>
        <p:spPr bwMode="auto">
          <a:xfrm>
            <a:off x="5761952" y="7074495"/>
            <a:ext cx="3389069" cy="62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3467" b="1" dirty="0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㈜</a:t>
            </a:r>
            <a:r>
              <a:rPr lang="ko-KR" altLang="en-US" sz="3467" b="1" dirty="0" err="1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티엔비</a:t>
            </a:r>
            <a:r>
              <a:rPr lang="ko-KR" altLang="en-US" sz="3467" b="1" dirty="0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 솔루션</a:t>
            </a:r>
            <a:endParaRPr lang="en-US" altLang="ko-KR" sz="3467" b="1" dirty="0">
              <a:effectLst>
                <a:outerShdw blurRad="50800" dist="50800" dir="5400000" algn="ctr" rotWithShape="0">
                  <a:schemeClr val="accent6">
                    <a:lumMod val="40000"/>
                    <a:lumOff val="60000"/>
                  </a:schemeClr>
                </a:outerShdw>
              </a:effectLst>
              <a:latin typeface="Verdana" panose="020B060403050404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0" y="7866583"/>
            <a:ext cx="14912974" cy="5217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티엔비솔루션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    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경기도 수원시 권선구 </a:t>
            </a:r>
            <a:r>
              <a:rPr lang="ko-KR" altLang="en-US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산업로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156</a:t>
            </a:r>
            <a:r>
              <a:rPr lang="ko-KR" altLang="en-US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번길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142-10, A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     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TEL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070-8775-5213      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FAX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031-5182-8089</a:t>
            </a:r>
            <a:endParaRPr lang="ko-KR" altLang="ko-KR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D8111F73-C1A3-1FCF-21E8-BCE18A3D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639" y="4367362"/>
            <a:ext cx="1157689" cy="46416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latinLnBrk="1" hangingPunct="1">
              <a:spcBef>
                <a:spcPct val="50000"/>
              </a:spcBef>
              <a:buNone/>
              <a:defRPr/>
            </a:pPr>
            <a:r>
              <a:rPr lang="en-US" altLang="ko-KR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(V1.0</a:t>
            </a:r>
            <a:r>
              <a:rPr lang="ko-KR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ko-KR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981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A488F03-7DD7-AC8E-68FC-5EC254FE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="" xmlns:a16="http://schemas.microsoft.com/office/drawing/2014/main" id="{0CC4EA99-BC94-80A3-E78C-E9A9D9D4E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9" y="233735"/>
            <a:ext cx="24961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2400" b="1" dirty="0" smtClean="0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설비 점검 구성도</a:t>
            </a:r>
            <a:endParaRPr lang="en-US" altLang="ko-KR" sz="2400" b="1" dirty="0">
              <a:solidFill>
                <a:srgbClr val="00006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360143" y="1602495"/>
            <a:ext cx="2160240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sz="1200" b="1" dirty="0">
                <a:latin typeface="+mn-ea"/>
              </a:rPr>
              <a:t>QR</a:t>
            </a:r>
            <a:r>
              <a:rPr lang="ko-KR" altLang="en-US" sz="1200" b="1" dirty="0">
                <a:latin typeface="+mn-ea"/>
              </a:rPr>
              <a:t>코드 스캔 </a:t>
            </a:r>
            <a:r>
              <a:rPr lang="en-US" altLang="ko-KR" sz="1200" b="1" dirty="0">
                <a:latin typeface="+mn-ea"/>
              </a:rPr>
              <a:t>or RFID TAG 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335628" y="1601887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sz="1200" b="1" dirty="0" smtClean="0">
                <a:latin typeface="+mn-ea"/>
              </a:rPr>
              <a:t>URL </a:t>
            </a:r>
            <a:r>
              <a:rPr lang="ko-KR" altLang="en-US" sz="1200" b="1" dirty="0" smtClean="0">
                <a:latin typeface="+mn-ea"/>
              </a:rPr>
              <a:t>접속 후 체크리스트 작성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0493916" y="1601887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latin typeface="+mn-ea"/>
              </a:rPr>
              <a:t>점검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578" y="2062664"/>
            <a:ext cx="990431" cy="981818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694" y="2005281"/>
            <a:ext cx="2141326" cy="1190083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76" y="1979999"/>
            <a:ext cx="2149209" cy="1269056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48" name="직사각형 47"/>
          <p:cNvSpPr/>
          <p:nvPr/>
        </p:nvSpPr>
        <p:spPr>
          <a:xfrm>
            <a:off x="4301388" y="5634335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err="1" smtClean="0">
                <a:latin typeface="+mn-ea"/>
              </a:rPr>
              <a:t>모바일</a:t>
            </a:r>
            <a:r>
              <a:rPr lang="ko-KR" altLang="en-US" sz="1200" b="1" dirty="0" smtClean="0">
                <a:latin typeface="+mn-ea"/>
              </a:rPr>
              <a:t> 전송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55" y="3000151"/>
            <a:ext cx="1863873" cy="1309091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569" y="6007075"/>
            <a:ext cx="1191223" cy="1636364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52" name="직사각형 51"/>
          <p:cNvSpPr/>
          <p:nvPr/>
        </p:nvSpPr>
        <p:spPr>
          <a:xfrm>
            <a:off x="975767" y="5634335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latin typeface="+mn-ea"/>
              </a:rPr>
              <a:t>점검 서버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0720917" y="5634335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latin typeface="+mn-ea"/>
              </a:rPr>
              <a:t>고장 신고 및 접수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917" y="6060768"/>
            <a:ext cx="2359135" cy="1246832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7" name="직사각형 16"/>
          <p:cNvSpPr/>
          <p:nvPr/>
        </p:nvSpPr>
        <p:spPr>
          <a:xfrm>
            <a:off x="7384479" y="5634335"/>
            <a:ext cx="235913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latin typeface="+mn-ea"/>
              </a:rPr>
              <a:t>고장 수리 완료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479" y="6060767"/>
            <a:ext cx="2367213" cy="1246832"/>
          </a:xfrm>
          <a:prstGeom prst="rect">
            <a:avLst/>
          </a:prstGeom>
          <a:ln>
            <a:solidFill>
              <a:srgbClr val="92D050"/>
            </a:solidFill>
          </a:ln>
        </p:spPr>
      </p:pic>
      <p:cxnSp>
        <p:nvCxnSpPr>
          <p:cNvPr id="19" name="직선 화살표 연결선 18"/>
          <p:cNvCxnSpPr>
            <a:stCxn id="30" idx="3"/>
            <a:endCxn id="33" idx="1"/>
          </p:cNvCxnSpPr>
          <p:nvPr/>
        </p:nvCxnSpPr>
        <p:spPr>
          <a:xfrm flipV="1">
            <a:off x="6520383" y="1765542"/>
            <a:ext cx="815245" cy="60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33" idx="3"/>
            <a:endCxn id="37" idx="1"/>
          </p:cNvCxnSpPr>
          <p:nvPr/>
        </p:nvCxnSpPr>
        <p:spPr>
          <a:xfrm>
            <a:off x="9694764" y="1765542"/>
            <a:ext cx="799152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26" idx="3"/>
            <a:endCxn id="54" idx="3"/>
          </p:cNvCxnSpPr>
          <p:nvPr/>
        </p:nvCxnSpPr>
        <p:spPr>
          <a:xfrm flipH="1">
            <a:off x="13080053" y="4717745"/>
            <a:ext cx="1476959" cy="1080245"/>
          </a:xfrm>
          <a:prstGeom prst="bentConnector3">
            <a:avLst>
              <a:gd name="adj1" fmla="val -15478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7" idx="3"/>
            <a:endCxn id="26" idx="0"/>
          </p:cNvCxnSpPr>
          <p:nvPr/>
        </p:nvCxnSpPr>
        <p:spPr>
          <a:xfrm>
            <a:off x="12853052" y="1765542"/>
            <a:ext cx="565965" cy="2543700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순서도: 판단 25"/>
          <p:cNvSpPr/>
          <p:nvPr/>
        </p:nvSpPr>
        <p:spPr>
          <a:xfrm>
            <a:off x="12281022" y="4309242"/>
            <a:ext cx="2275990" cy="817005"/>
          </a:xfrm>
          <a:prstGeom prst="flowChartDecision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solidFill>
                  <a:schemeClr val="dk1"/>
                </a:solidFill>
                <a:latin typeface="+mn-ea"/>
              </a:rPr>
              <a:t>고장 및 불량</a:t>
            </a:r>
            <a:r>
              <a:rPr lang="en-US" altLang="ko-KR" sz="1200" b="1" dirty="0" smtClean="0">
                <a:solidFill>
                  <a:schemeClr val="dk1"/>
                </a:solidFill>
                <a:latin typeface="+mn-ea"/>
              </a:rPr>
              <a:t>?</a:t>
            </a:r>
            <a:endParaRPr lang="ko-KR" altLang="en-US" sz="1200" b="1" dirty="0">
              <a:solidFill>
                <a:schemeClr val="dk1"/>
              </a:solidFill>
              <a:latin typeface="+mn-ea"/>
            </a:endParaRPr>
          </a:p>
        </p:txBody>
      </p:sp>
      <p:cxnSp>
        <p:nvCxnSpPr>
          <p:cNvPr id="55" name="꺾인 연결선 54"/>
          <p:cNvCxnSpPr>
            <a:stCxn id="26" idx="1"/>
            <a:endCxn id="48" idx="0"/>
          </p:cNvCxnSpPr>
          <p:nvPr/>
        </p:nvCxnSpPr>
        <p:spPr>
          <a:xfrm rot="10800000" flipV="1">
            <a:off x="5480956" y="4717745"/>
            <a:ext cx="6800066" cy="916590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4" idx="1"/>
            <a:endCxn id="17" idx="3"/>
          </p:cNvCxnSpPr>
          <p:nvPr/>
        </p:nvCxnSpPr>
        <p:spPr>
          <a:xfrm flipH="1">
            <a:off x="9743615" y="5797990"/>
            <a:ext cx="977303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17" idx="1"/>
            <a:endCxn id="48" idx="3"/>
          </p:cNvCxnSpPr>
          <p:nvPr/>
        </p:nvCxnSpPr>
        <p:spPr>
          <a:xfrm flipH="1">
            <a:off x="6660524" y="5797990"/>
            <a:ext cx="723955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48" idx="1"/>
            <a:endCxn id="52" idx="3"/>
          </p:cNvCxnSpPr>
          <p:nvPr/>
        </p:nvCxnSpPr>
        <p:spPr>
          <a:xfrm flipH="1">
            <a:off x="3334903" y="5797990"/>
            <a:ext cx="966485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그림 6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63" y="6018443"/>
            <a:ext cx="2078206" cy="1190083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67" name="TextBox 66"/>
          <p:cNvSpPr txBox="1"/>
          <p:nvPr/>
        </p:nvSpPr>
        <p:spPr>
          <a:xfrm>
            <a:off x="11691866" y="4449400"/>
            <a:ext cx="589156" cy="268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ko-KR" altLang="en-US" sz="1200" b="1" dirty="0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정상</a:t>
            </a:r>
            <a:endParaRPr lang="ko-KR" altLang="en-US" sz="12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4284155" y="4429626"/>
            <a:ext cx="589156" cy="268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고장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37364120-D32D-4346-8F9C-5FAAE7E24B6F}"/>
              </a:ext>
            </a:extLst>
          </p:cNvPr>
          <p:cNvSpPr txBox="1"/>
          <p:nvPr/>
        </p:nvSpPr>
        <p:spPr>
          <a:xfrm>
            <a:off x="687735" y="831865"/>
            <a:ext cx="13761827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 algn="l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altLang="ko-KR" sz="2000" b="1" dirty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QR or RF TAG</a:t>
            </a:r>
            <a:r>
              <a:rPr lang="ko-KR" altLang="en-US" sz="2000" b="1" dirty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통한  스마트 설비 점검 </a:t>
            </a:r>
            <a:r>
              <a:rPr lang="ko-KR" altLang="en-US" sz="2000" b="1" dirty="0" smtClean="0">
                <a:solidFill>
                  <a:schemeClr val="tx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구성도</a:t>
            </a:r>
            <a:endParaRPr lang="en-US" altLang="ko-KR" sz="2000" b="1" dirty="0">
              <a:solidFill>
                <a:schemeClr val="tx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8585095" y="3440089"/>
            <a:ext cx="1927271" cy="721209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err="1" smtClean="0">
                <a:latin typeface="+mn-ea"/>
              </a:rPr>
              <a:t>분전반</a:t>
            </a:r>
            <a:r>
              <a:rPr lang="ko-KR" altLang="en-US" sz="1200" b="1" dirty="0" smtClean="0">
                <a:latin typeface="+mn-ea"/>
              </a:rPr>
              <a:t> 설비 정보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금일 체크리스트 조회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996373" y="1601887"/>
            <a:ext cx="2067626" cy="3273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sz="1200" b="1" dirty="0" smtClean="0">
                <a:latin typeface="+mn-ea"/>
              </a:rPr>
              <a:t>점검 서버</a:t>
            </a:r>
            <a:endParaRPr lang="en-US" altLang="ko-KR" sz="1200" b="1" dirty="0">
              <a:latin typeface="+mn-ea"/>
            </a:endParaRPr>
          </a:p>
        </p:txBody>
      </p:sp>
      <p:graphicFrame>
        <p:nvGraphicFramePr>
          <p:cNvPr id="84" name="개체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956379"/>
              </p:ext>
            </p:extLst>
          </p:nvPr>
        </p:nvGraphicFramePr>
        <p:xfrm>
          <a:off x="1100256" y="2020359"/>
          <a:ext cx="1867926" cy="118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r:id="rId12" imgW="6686640" imgH="4248000" progId="">
                  <p:embed/>
                </p:oleObj>
              </mc:Choice>
              <mc:Fallback>
                <p:oleObj r:id="rId12" imgW="6686640" imgH="42480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00256" y="2020359"/>
                        <a:ext cx="1867926" cy="1186745"/>
                      </a:xfrm>
                      <a:prstGeom prst="rect">
                        <a:avLst/>
                      </a:prstGeom>
                      <a:ln>
                        <a:solidFill>
                          <a:srgbClr val="92D05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직사각형 86"/>
          <p:cNvSpPr/>
          <p:nvPr/>
        </p:nvSpPr>
        <p:spPr>
          <a:xfrm>
            <a:off x="1064720" y="3328950"/>
            <a:ext cx="1927271" cy="1250621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err="1" smtClean="0">
                <a:latin typeface="+mn-ea"/>
              </a:rPr>
              <a:t>분전반</a:t>
            </a:r>
            <a:r>
              <a:rPr lang="ko-KR" altLang="en-US" sz="1200" b="1" dirty="0" smtClean="0">
                <a:latin typeface="+mn-ea"/>
              </a:rPr>
              <a:t> 정보 관리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점검 </a:t>
            </a:r>
            <a:r>
              <a:rPr lang="ko-KR" altLang="en-US" sz="1200" b="1" dirty="0" err="1" smtClean="0">
                <a:latin typeface="+mn-ea"/>
              </a:rPr>
              <a:t>스케쥴링</a:t>
            </a:r>
            <a:r>
              <a:rPr lang="ko-KR" altLang="en-US" sz="1200" b="1" dirty="0" smtClean="0">
                <a:latin typeface="+mn-ea"/>
              </a:rPr>
              <a:t> 관리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작업 이력 관리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endParaRPr lang="en-US" altLang="ko-KR" sz="1200" b="1" dirty="0">
              <a:latin typeface="+mn-ea"/>
            </a:endParaRPr>
          </a:p>
        </p:txBody>
      </p:sp>
      <p:cxnSp>
        <p:nvCxnSpPr>
          <p:cNvPr id="95" name="직선 화살표 연결선 94"/>
          <p:cNvCxnSpPr>
            <a:stCxn id="77" idx="3"/>
            <a:endCxn id="30" idx="1"/>
          </p:cNvCxnSpPr>
          <p:nvPr/>
        </p:nvCxnSpPr>
        <p:spPr>
          <a:xfrm>
            <a:off x="3063999" y="1765542"/>
            <a:ext cx="1296144" cy="60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136007" y="2005281"/>
            <a:ext cx="1196684" cy="447814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점검 알림 메시지 전송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047775" y="7290519"/>
            <a:ext cx="2347844" cy="64807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err="1" smtClean="0">
                <a:latin typeface="+mn-ea"/>
              </a:rPr>
              <a:t>분전반</a:t>
            </a:r>
            <a:r>
              <a:rPr lang="ko-KR" altLang="en-US" sz="1200" b="1" dirty="0" smtClean="0">
                <a:latin typeface="+mn-ea"/>
              </a:rPr>
              <a:t> 점검 결과 통계 분석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다양한 보고서 작성</a:t>
            </a:r>
            <a:endParaRPr lang="en-US" altLang="ko-KR" sz="1200" b="1" dirty="0" smtClean="0">
              <a:latin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0840863" y="3328950"/>
            <a:ext cx="1927271" cy="721209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점검 사항 확인</a:t>
            </a:r>
            <a:endParaRPr lang="en-US" altLang="ko-KR" sz="1200" b="1" dirty="0" smtClean="0">
              <a:latin typeface="+mn-ea"/>
            </a:endParaRPr>
          </a:p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200" b="1" dirty="0" smtClean="0">
                <a:latin typeface="+mn-ea"/>
              </a:rPr>
              <a:t>점검 사항 결과 입력</a:t>
            </a:r>
            <a:endParaRPr lang="en-US" altLang="ko-KR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432490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20728</TotalTime>
  <Words>91</Words>
  <Application>Microsoft Office PowerPoint</Application>
  <PresentationFormat>사용자 지정</PresentationFormat>
  <Paragraphs>27</Paragraphs>
  <Slides>2</Slides>
  <Notes>2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기본 디자인</vt:lpstr>
      <vt:lpstr>PowerPoint 프레젠테이션</vt:lpstr>
      <vt:lpstr>PowerPoint 프레젠테이션</vt:lpstr>
    </vt:vector>
  </TitlesOfParts>
  <Company>CPO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김웅수</dc:creator>
  <cp:lastModifiedBy>user</cp:lastModifiedBy>
  <cp:revision>927</cp:revision>
  <cp:lastPrinted>2025-06-08T14:30:56Z</cp:lastPrinted>
  <dcterms:created xsi:type="dcterms:W3CDTF">2003-11-06T00:16:42Z</dcterms:created>
  <dcterms:modified xsi:type="dcterms:W3CDTF">2025-11-24T05:23:29Z</dcterms:modified>
</cp:coreProperties>
</file>