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7"/>
  </p:notesMasterIdLst>
  <p:handoutMasterIdLst>
    <p:handoutMasterId r:id="rId8"/>
  </p:handoutMasterIdLst>
  <p:sldIdLst>
    <p:sldId id="572" r:id="rId2"/>
    <p:sldId id="705" r:id="rId3"/>
    <p:sldId id="706" r:id="rId4"/>
    <p:sldId id="707" r:id="rId5"/>
    <p:sldId id="708" r:id="rId6"/>
  </p:sldIdLst>
  <p:sldSz cx="14912975" cy="8388350"/>
  <p:notesSz cx="6858000" cy="9979025"/>
  <p:defaultTextStyle>
    <a:defPPr>
      <a:defRPr lang="ko-KR"/>
    </a:defPPr>
    <a:lvl1pPr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just" rtl="0" eaLnBrk="0" fontAlgn="base" hangingPunct="0">
      <a:lnSpc>
        <a:spcPct val="110000"/>
      </a:lnSpc>
      <a:spcBef>
        <a:spcPct val="0"/>
      </a:spcBef>
      <a:spcAft>
        <a:spcPts val="600"/>
      </a:spcAft>
      <a:buFont typeface="Tahoma" panose="020B0604030504040204" pitchFamily="34" charset="0"/>
      <a:buChar char="Ø"/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06" userDrawn="1">
          <p15:clr>
            <a:srgbClr val="A4A3A4"/>
          </p15:clr>
        </p15:guide>
        <p15:guide id="2" orient="horz" pos="4918" userDrawn="1">
          <p15:clr>
            <a:srgbClr val="A4A3A4"/>
          </p15:clr>
        </p15:guide>
        <p15:guide id="3" orient="horz" pos="2088" userDrawn="1">
          <p15:clr>
            <a:srgbClr val="A4A3A4"/>
          </p15:clr>
        </p15:guide>
        <p15:guide id="4" orient="horz" pos="2031" userDrawn="1">
          <p15:clr>
            <a:srgbClr val="A4A3A4"/>
          </p15:clr>
        </p15:guide>
        <p15:guide id="5" orient="horz" pos="4972" userDrawn="1">
          <p15:clr>
            <a:srgbClr val="A4A3A4"/>
          </p15:clr>
        </p15:guide>
        <p15:guide id="6" pos="481" userDrawn="1">
          <p15:clr>
            <a:srgbClr val="A4A3A4"/>
          </p15:clr>
        </p15:guide>
        <p15:guide id="7" pos="9061" userDrawn="1">
          <p15:clr>
            <a:srgbClr val="A4A3A4"/>
          </p15:clr>
        </p15:guide>
        <p15:guide id="8" pos="50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49495A"/>
    <a:srgbClr val="EAEAEA"/>
    <a:srgbClr val="EB5C35"/>
    <a:srgbClr val="CCFFFF"/>
    <a:srgbClr val="CCFFCC"/>
    <a:srgbClr val="CCCCFF"/>
    <a:srgbClr val="C0C0C0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73" autoAdjust="0"/>
    <p:restoredTop sz="95392" autoAdjust="0"/>
  </p:normalViewPr>
  <p:slideViewPr>
    <p:cSldViewPr>
      <p:cViewPr varScale="1">
        <p:scale>
          <a:sx n="88" d="100"/>
          <a:sy n="88" d="100"/>
        </p:scale>
        <p:origin x="120" y="306"/>
      </p:cViewPr>
      <p:guideLst>
        <p:guide orient="horz" pos="4306"/>
        <p:guide orient="horz" pos="4918"/>
        <p:guide orient="horz" pos="2088"/>
        <p:guide orient="horz" pos="2031"/>
        <p:guide orient="horz" pos="4972"/>
        <p:guide pos="481"/>
        <p:guide pos="9061"/>
        <p:guide pos="50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304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3854" y="1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/>
          <a:lstStyle>
            <a:lvl1pPr algn="r">
              <a:defRPr sz="1200"/>
            </a:lvl1pPr>
          </a:lstStyle>
          <a:p>
            <a:fld id="{DEB0A140-3A22-4BB2-8273-514C970A4F52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79515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3854" y="9479515"/>
            <a:ext cx="2972547" cy="499510"/>
          </a:xfrm>
          <a:prstGeom prst="rect">
            <a:avLst/>
          </a:prstGeom>
        </p:spPr>
        <p:txBody>
          <a:bodyPr vert="horz" lIns="92067" tIns="46033" rIns="92067" bIns="46033" rtlCol="0" anchor="b"/>
          <a:lstStyle>
            <a:lvl1pPr algn="r">
              <a:defRPr sz="1200"/>
            </a:lvl1pPr>
          </a:lstStyle>
          <a:p>
            <a:fld id="{EF660EA6-DF2E-4E4D-B2DA-B8601ACC9F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656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2972547" cy="499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854" y="1"/>
            <a:ext cx="2972547" cy="499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482" y="4741356"/>
            <a:ext cx="5487040" cy="4489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77921"/>
            <a:ext cx="2972547" cy="49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854" y="9477921"/>
            <a:ext cx="2972547" cy="499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6" tIns="46017" rIns="92036" bIns="46017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lnSpc>
                <a:spcPct val="100000"/>
              </a:lnSpc>
              <a:spcAft>
                <a:spcPct val="0"/>
              </a:spcAft>
              <a:buFontTx/>
              <a:buNone/>
              <a:defRPr sz="1200">
                <a:latin typeface="굴림" panose="020B0600000101010101" pitchFamily="50" charset="-127"/>
              </a:defRPr>
            </a:lvl1pPr>
          </a:lstStyle>
          <a:p>
            <a:fld id="{13B21F1C-94D5-44C5-95BD-D104836D8E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632700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" y="730250"/>
            <a:ext cx="6442075" cy="3624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6599" y="4598681"/>
            <a:ext cx="4809028" cy="435566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8950" tIns="44474" rIns="88950" bIns="44474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9952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2DB2A-A04B-D64A-BB2B-DBD397C1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C6A977BC-F955-7064-0E3A-DA92D9E1C1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731838"/>
            <a:ext cx="6453187" cy="3630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DD56DF9-C364-8638-1D3C-CF4E41F98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614" y="4607460"/>
            <a:ext cx="4814594" cy="436397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078" tIns="44538" rIns="89078" bIns="44538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38310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1289-4CC5-6699-523D-EC5B552B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EB3790C7-78A0-153E-06FE-87628E4BB3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731838"/>
            <a:ext cx="6453187" cy="3630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3756ADCF-844B-1777-8ED8-5A8857CA5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614" y="4607460"/>
            <a:ext cx="4814594" cy="436397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078" tIns="44538" rIns="89078" bIns="44538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9768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F2F2-A4C6-88D9-42B6-F000093E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297EC6AA-2674-9D99-D2AB-2B03734F51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731838"/>
            <a:ext cx="6453187" cy="3630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CC99F09-147B-B4BB-8D8D-0AF4897D6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614" y="4607460"/>
            <a:ext cx="4814594" cy="436397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078" tIns="44538" rIns="89078" bIns="44538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886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74063-7CCD-CF1A-5EF2-ED37F2CF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BCEECA17-CFB9-5C8E-9549-4572A4F659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263" y="731838"/>
            <a:ext cx="6453187" cy="36306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222B0A5-CD5D-9ECD-8644-A68AAD4D9D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7614" y="4607460"/>
            <a:ext cx="4814594" cy="4363979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9078" tIns="44538" rIns="89078" bIns="44538"/>
          <a:lstStyle/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546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122" y="1372816"/>
            <a:ext cx="11184731" cy="2920389"/>
          </a:xfrm>
        </p:spPr>
        <p:txBody>
          <a:bodyPr anchor="b"/>
          <a:lstStyle>
            <a:lvl1pPr algn="ctr">
              <a:defRPr sz="7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4122" y="4405826"/>
            <a:ext cx="11184731" cy="2025242"/>
          </a:xfrm>
        </p:spPr>
        <p:txBody>
          <a:bodyPr/>
          <a:lstStyle>
            <a:lvl1pPr marL="0" indent="0" algn="ctr">
              <a:buNone/>
              <a:defRPr sz="2935"/>
            </a:lvl1pPr>
            <a:lvl2pPr marL="559201" indent="0" algn="ctr">
              <a:buNone/>
              <a:defRPr sz="2446"/>
            </a:lvl2pPr>
            <a:lvl3pPr marL="1118403" indent="0" algn="ctr">
              <a:buNone/>
              <a:defRPr sz="2202"/>
            </a:lvl3pPr>
            <a:lvl4pPr marL="1677604" indent="0" algn="ctr">
              <a:buNone/>
              <a:defRPr sz="1957"/>
            </a:lvl4pPr>
            <a:lvl5pPr marL="2236805" indent="0" algn="ctr">
              <a:buNone/>
              <a:defRPr sz="1957"/>
            </a:lvl5pPr>
            <a:lvl6pPr marL="2796007" indent="0" algn="ctr">
              <a:buNone/>
              <a:defRPr sz="1957"/>
            </a:lvl6pPr>
            <a:lvl7pPr marL="3355208" indent="0" algn="ctr">
              <a:buNone/>
              <a:defRPr sz="1957"/>
            </a:lvl7pPr>
            <a:lvl8pPr marL="3914409" indent="0" algn="ctr">
              <a:buNone/>
              <a:defRPr sz="1957"/>
            </a:lvl8pPr>
            <a:lvl9pPr marL="4473611" indent="0" algn="ctr">
              <a:buNone/>
              <a:defRPr sz="195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08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61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500" y="2091263"/>
            <a:ext cx="12862441" cy="3489320"/>
          </a:xfrm>
        </p:spPr>
        <p:txBody>
          <a:bodyPr anchor="b"/>
          <a:lstStyle>
            <a:lvl1pPr>
              <a:defRPr sz="7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500" y="5613594"/>
            <a:ext cx="12862441" cy="1834951"/>
          </a:xfrm>
        </p:spPr>
        <p:txBody>
          <a:bodyPr/>
          <a:lstStyle>
            <a:lvl1pPr marL="0" indent="0">
              <a:buNone/>
              <a:defRPr sz="2935">
                <a:solidFill>
                  <a:schemeClr val="tx1">
                    <a:tint val="75000"/>
                  </a:schemeClr>
                </a:solidFill>
              </a:defRPr>
            </a:lvl1pPr>
            <a:lvl2pPr marL="559201" indent="0">
              <a:buNone/>
              <a:defRPr sz="2446">
                <a:solidFill>
                  <a:schemeClr val="tx1">
                    <a:tint val="75000"/>
                  </a:schemeClr>
                </a:solidFill>
              </a:defRPr>
            </a:lvl2pPr>
            <a:lvl3pPr marL="1118403" indent="0">
              <a:buNone/>
              <a:defRPr sz="2202">
                <a:solidFill>
                  <a:schemeClr val="tx1">
                    <a:tint val="75000"/>
                  </a:schemeClr>
                </a:solidFill>
              </a:defRPr>
            </a:lvl3pPr>
            <a:lvl4pPr marL="1677604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4pPr>
            <a:lvl5pPr marL="2236805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5pPr>
            <a:lvl6pPr marL="2796007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6pPr>
            <a:lvl7pPr marL="3355208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7pPr>
            <a:lvl8pPr marL="3914409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8pPr>
            <a:lvl9pPr marL="4473611" indent="0">
              <a:buNone/>
              <a:defRPr sz="19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77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5267" y="2233010"/>
            <a:ext cx="6338014" cy="532233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9694" y="2233010"/>
            <a:ext cx="6338014" cy="532233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9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09" y="446603"/>
            <a:ext cx="12862441" cy="162136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210" y="2056312"/>
            <a:ext cx="6308887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7210" y="3064078"/>
            <a:ext cx="6308887" cy="450679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9693" y="2056312"/>
            <a:ext cx="6339957" cy="1007766"/>
          </a:xfrm>
        </p:spPr>
        <p:txBody>
          <a:bodyPr anchor="b"/>
          <a:lstStyle>
            <a:lvl1pPr marL="0" indent="0">
              <a:buNone/>
              <a:defRPr sz="2935" b="1"/>
            </a:lvl1pPr>
            <a:lvl2pPr marL="559201" indent="0">
              <a:buNone/>
              <a:defRPr sz="2446" b="1"/>
            </a:lvl2pPr>
            <a:lvl3pPr marL="1118403" indent="0">
              <a:buNone/>
              <a:defRPr sz="2202" b="1"/>
            </a:lvl3pPr>
            <a:lvl4pPr marL="1677604" indent="0">
              <a:buNone/>
              <a:defRPr sz="1957" b="1"/>
            </a:lvl4pPr>
            <a:lvl5pPr marL="2236805" indent="0">
              <a:buNone/>
              <a:defRPr sz="1957" b="1"/>
            </a:lvl5pPr>
            <a:lvl6pPr marL="2796007" indent="0">
              <a:buNone/>
              <a:defRPr sz="1957" b="1"/>
            </a:lvl6pPr>
            <a:lvl7pPr marL="3355208" indent="0">
              <a:buNone/>
              <a:defRPr sz="1957" b="1"/>
            </a:lvl7pPr>
            <a:lvl8pPr marL="3914409" indent="0">
              <a:buNone/>
              <a:defRPr sz="1957" b="1"/>
            </a:lvl8pPr>
            <a:lvl9pPr marL="4473611" indent="0">
              <a:buNone/>
              <a:defRPr sz="195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9693" y="3064078"/>
            <a:ext cx="6339957" cy="450679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45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49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62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10" y="559223"/>
            <a:ext cx="480982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9957" y="1207768"/>
            <a:ext cx="7549694" cy="5961165"/>
          </a:xfrm>
        </p:spPr>
        <p:txBody>
          <a:bodyPr/>
          <a:lstStyle>
            <a:lvl1pPr>
              <a:defRPr sz="3914"/>
            </a:lvl1pPr>
            <a:lvl2pPr>
              <a:defRPr sz="3425"/>
            </a:lvl2pPr>
            <a:lvl3pPr>
              <a:defRPr sz="2935"/>
            </a:lvl3pPr>
            <a:lvl4pPr>
              <a:defRPr sz="2446"/>
            </a:lvl4pPr>
            <a:lvl5pPr>
              <a:defRPr sz="2446"/>
            </a:lvl5pPr>
            <a:lvl6pPr>
              <a:defRPr sz="2446"/>
            </a:lvl6pPr>
            <a:lvl7pPr>
              <a:defRPr sz="2446"/>
            </a:lvl7pPr>
            <a:lvl8pPr>
              <a:defRPr sz="2446"/>
            </a:lvl8pPr>
            <a:lvl9pPr>
              <a:defRPr sz="2446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7210" y="2516505"/>
            <a:ext cx="480982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4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210" y="559223"/>
            <a:ext cx="4809822" cy="1957282"/>
          </a:xfrm>
        </p:spPr>
        <p:txBody>
          <a:bodyPr anchor="b"/>
          <a:lstStyle>
            <a:lvl1pPr>
              <a:defRPr sz="39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39957" y="1207768"/>
            <a:ext cx="7549694" cy="5961165"/>
          </a:xfrm>
        </p:spPr>
        <p:txBody>
          <a:bodyPr anchor="t"/>
          <a:lstStyle>
            <a:lvl1pPr marL="0" indent="0">
              <a:buNone/>
              <a:defRPr sz="3914"/>
            </a:lvl1pPr>
            <a:lvl2pPr marL="559201" indent="0">
              <a:buNone/>
              <a:defRPr sz="3425"/>
            </a:lvl2pPr>
            <a:lvl3pPr marL="1118403" indent="0">
              <a:buNone/>
              <a:defRPr sz="2935"/>
            </a:lvl3pPr>
            <a:lvl4pPr marL="1677604" indent="0">
              <a:buNone/>
              <a:defRPr sz="2446"/>
            </a:lvl4pPr>
            <a:lvl5pPr marL="2236805" indent="0">
              <a:buNone/>
              <a:defRPr sz="2446"/>
            </a:lvl5pPr>
            <a:lvl6pPr marL="2796007" indent="0">
              <a:buNone/>
              <a:defRPr sz="2446"/>
            </a:lvl6pPr>
            <a:lvl7pPr marL="3355208" indent="0">
              <a:buNone/>
              <a:defRPr sz="2446"/>
            </a:lvl7pPr>
            <a:lvl8pPr marL="3914409" indent="0">
              <a:buNone/>
              <a:defRPr sz="2446"/>
            </a:lvl8pPr>
            <a:lvl9pPr marL="4473611" indent="0">
              <a:buNone/>
              <a:defRPr sz="244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7210" y="2516505"/>
            <a:ext cx="4809822" cy="4662137"/>
          </a:xfrm>
        </p:spPr>
        <p:txBody>
          <a:bodyPr/>
          <a:lstStyle>
            <a:lvl1pPr marL="0" indent="0">
              <a:buNone/>
              <a:defRPr sz="1957"/>
            </a:lvl1pPr>
            <a:lvl2pPr marL="559201" indent="0">
              <a:buNone/>
              <a:defRPr sz="1712"/>
            </a:lvl2pPr>
            <a:lvl3pPr marL="1118403" indent="0">
              <a:buNone/>
              <a:defRPr sz="1468"/>
            </a:lvl3pPr>
            <a:lvl4pPr marL="1677604" indent="0">
              <a:buNone/>
              <a:defRPr sz="1223"/>
            </a:lvl4pPr>
            <a:lvl5pPr marL="2236805" indent="0">
              <a:buNone/>
              <a:defRPr sz="1223"/>
            </a:lvl5pPr>
            <a:lvl6pPr marL="2796007" indent="0">
              <a:buNone/>
              <a:defRPr sz="1223"/>
            </a:lvl6pPr>
            <a:lvl7pPr marL="3355208" indent="0">
              <a:buNone/>
              <a:defRPr sz="1223"/>
            </a:lvl7pPr>
            <a:lvl8pPr marL="3914409" indent="0">
              <a:buNone/>
              <a:defRPr sz="1223"/>
            </a:lvl8pPr>
            <a:lvl9pPr marL="4473611" indent="0">
              <a:buNone/>
              <a:defRPr sz="122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94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93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72098" y="446602"/>
            <a:ext cx="3215610" cy="71087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5267" y="446602"/>
            <a:ext cx="9460419" cy="71087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7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5267" y="446603"/>
            <a:ext cx="12862441" cy="1621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5267" y="2233010"/>
            <a:ext cx="12862441" cy="5322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267" y="7774758"/>
            <a:ext cx="335541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39923" y="7774758"/>
            <a:ext cx="503312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2289" y="7774758"/>
            <a:ext cx="3355419" cy="4466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Line 30"/>
          <p:cNvSpPr>
            <a:spLocks noChangeShapeType="1"/>
          </p:cNvSpPr>
          <p:nvPr userDrawn="1"/>
        </p:nvSpPr>
        <p:spPr bwMode="auto">
          <a:xfrm flipH="1">
            <a:off x="644679" y="671845"/>
            <a:ext cx="14268299" cy="0"/>
          </a:xfrm>
          <a:prstGeom prst="line">
            <a:avLst/>
          </a:prstGeom>
          <a:noFill/>
          <a:ln w="57150" cmpd="thickThin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71842" dir="27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ko-KR" altLang="en-US" sz="1517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7046" y="161727"/>
            <a:ext cx="2232249" cy="5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804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1118403" rtl="0" eaLnBrk="1" latinLnBrk="1" hangingPunct="1">
        <a:lnSpc>
          <a:spcPct val="90000"/>
        </a:lnSpc>
        <a:spcBef>
          <a:spcPct val="0"/>
        </a:spcBef>
        <a:buNone/>
        <a:defRPr sz="53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601" indent="-279601" algn="l" defTabSz="1118403" rtl="0" eaLnBrk="1" latinLnBrk="1" hangingPunct="1">
        <a:lnSpc>
          <a:spcPct val="90000"/>
        </a:lnSpc>
        <a:spcBef>
          <a:spcPts val="1223"/>
        </a:spcBef>
        <a:buFont typeface="Arial" panose="020B0604020202020204" pitchFamily="34" charset="0"/>
        <a:buChar char="•"/>
        <a:defRPr sz="3425" kern="1200">
          <a:solidFill>
            <a:schemeClr val="tx1"/>
          </a:solidFill>
          <a:latin typeface="+mn-lt"/>
          <a:ea typeface="+mn-ea"/>
          <a:cs typeface="+mn-cs"/>
        </a:defRPr>
      </a:lvl1pPr>
      <a:lvl2pPr marL="838802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935" kern="1200">
          <a:solidFill>
            <a:schemeClr val="tx1"/>
          </a:solidFill>
          <a:latin typeface="+mn-lt"/>
          <a:ea typeface="+mn-ea"/>
          <a:cs typeface="+mn-cs"/>
        </a:defRPr>
      </a:lvl2pPr>
      <a:lvl3pPr marL="1398003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446" kern="1200">
          <a:solidFill>
            <a:schemeClr val="tx1"/>
          </a:solidFill>
          <a:latin typeface="+mn-lt"/>
          <a:ea typeface="+mn-ea"/>
          <a:cs typeface="+mn-cs"/>
        </a:defRPr>
      </a:lvl3pPr>
      <a:lvl4pPr marL="1957205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516406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3075607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634809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4194010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753211" indent="-279601" algn="l" defTabSz="1118403" rtl="0" eaLnBrk="1" latinLnBrk="1" hangingPunct="1">
        <a:lnSpc>
          <a:spcPct val="90000"/>
        </a:lnSpc>
        <a:spcBef>
          <a:spcPts val="612"/>
        </a:spcBef>
        <a:buFont typeface="Arial" panose="020B0604020202020204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1pPr>
      <a:lvl2pPr marL="559201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2pPr>
      <a:lvl3pPr marL="1118403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3pPr>
      <a:lvl4pPr marL="1677604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236805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2796007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355208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3914409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473611" algn="l" defTabSz="1118403" rtl="0" eaLnBrk="1" latinLnBrk="1" hangingPunct="1"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3339021" y="3100785"/>
            <a:ext cx="8234947" cy="110036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latinLnBrk="1" hangingPunct="1">
              <a:spcBef>
                <a:spcPct val="50000"/>
              </a:spcBef>
              <a:buNone/>
              <a:defRPr/>
            </a:pPr>
            <a:r>
              <a:rPr lang="ko-KR" altLang="en-US" sz="6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스마트 </a:t>
            </a:r>
            <a:r>
              <a:rPr lang="ko-KR" altLang="en-US" sz="6600" b="1" dirty="0" err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분전반</a:t>
            </a:r>
            <a:r>
              <a:rPr lang="ko-KR" altLang="en-US" sz="6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 제안서</a:t>
            </a:r>
            <a:endParaRPr lang="en-US" altLang="ko-KR" sz="6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2" name="Text Box 3"/>
          <p:cNvSpPr txBox="1">
            <a:spLocks noChangeArrowheads="1"/>
          </p:cNvSpPr>
          <p:nvPr/>
        </p:nvSpPr>
        <p:spPr bwMode="auto">
          <a:xfrm>
            <a:off x="5761952" y="7074495"/>
            <a:ext cx="3389069" cy="625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3467" b="1" dirty="0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㈜</a:t>
            </a:r>
            <a:r>
              <a:rPr lang="ko-KR" altLang="en-US" sz="3467" b="1" dirty="0" err="1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티엔비</a:t>
            </a:r>
            <a:r>
              <a:rPr lang="ko-KR" altLang="en-US" sz="3467" b="1" dirty="0">
                <a:effectLst>
                  <a:outerShdw blurRad="50800" dist="50800" dir="5400000" algn="ctr" rotWithShape="0">
                    <a:schemeClr val="accent6">
                      <a:lumMod val="40000"/>
                      <a:lumOff val="60000"/>
                    </a:schemeClr>
                  </a:outerShdw>
                </a:effectLst>
                <a:latin typeface="Verdana" panose="020B0604030504040204" pitchFamily="34" charset="0"/>
                <a:ea typeface="HY헤드라인M" panose="02030600000101010101" pitchFamily="18" charset="-127"/>
              </a:rPr>
              <a:t> 솔루션</a:t>
            </a:r>
            <a:endParaRPr lang="en-US" altLang="ko-KR" sz="3467" b="1" dirty="0">
              <a:effectLst>
                <a:outerShdw blurRad="50800" dist="50800" dir="5400000" algn="ctr" rotWithShape="0">
                  <a:schemeClr val="accent6">
                    <a:lumMod val="40000"/>
                    <a:lumOff val="60000"/>
                  </a:schemeClr>
                </a:outerShdw>
              </a:effectLst>
              <a:latin typeface="Verdana" panose="020B0604030504040204" pitchFamily="34" charset="0"/>
              <a:ea typeface="HY헤드라인M" panose="0203060000010101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0" y="7866583"/>
            <a:ext cx="14912974" cy="5217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티엔비솔루션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     </a:t>
            </a:r>
            <a:r>
              <a:rPr lang="ko-KR" altLang="en-US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경기도 수원시 권선구 </a:t>
            </a:r>
            <a:r>
              <a:rPr lang="ko-KR" altLang="en-US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산업로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156</a:t>
            </a:r>
            <a:r>
              <a:rPr lang="ko-KR" altLang="en-US" b="1" dirty="0" err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번길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142-10, A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동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층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	     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TEL</a:t>
            </a:r>
            <a:r>
              <a:rPr lang="ko-KR" altLang="en-US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070-8775-5213       </a:t>
            </a:r>
            <a:r>
              <a:rPr lang="en-US" altLang="ko-KR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FAX</a:t>
            </a:r>
            <a:r>
              <a:rPr lang="en-US" altLang="ko-KR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: 031-5182-8089</a:t>
            </a:r>
            <a:endParaRPr lang="ko-KR" altLang="ko-KR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D8111F73-C1A3-1FCF-21E8-BCE18A3D5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639" y="4367362"/>
            <a:ext cx="1157689" cy="46416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latinLnBrk="1" hangingPunct="1">
              <a:spcBef>
                <a:spcPct val="50000"/>
              </a:spcBef>
              <a:buNone/>
              <a:defRPr/>
            </a:pPr>
            <a:r>
              <a:rPr lang="en-US" altLang="ko-KR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(V1.0</a:t>
            </a:r>
            <a:r>
              <a:rPr lang="ko-KR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ko-KR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981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8F03-7DD7-AC8E-68FC-5EC254FE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0CC4EA99-BC94-80A3-E78C-E9A9D9D4E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9" y="233735"/>
            <a:ext cx="10887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2400" b="1" dirty="0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구성도</a:t>
            </a:r>
            <a:endParaRPr lang="en-US" altLang="ko-KR" sz="2400" b="1" dirty="0">
              <a:solidFill>
                <a:srgbClr val="00006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F932D814-7745-9996-5E8D-899C3CE01EC8}"/>
              </a:ext>
            </a:extLst>
          </p:cNvPr>
          <p:cNvSpPr txBox="1">
            <a:spLocks/>
          </p:cNvSpPr>
          <p:nvPr/>
        </p:nvSpPr>
        <p:spPr>
          <a:xfrm>
            <a:off x="560597" y="889505"/>
            <a:ext cx="10849075" cy="436215"/>
          </a:xfrm>
          <a:prstGeom prst="rect">
            <a:avLst/>
          </a:prstGeom>
        </p:spPr>
        <p:txBody>
          <a:bodyPr/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 err="1">
                <a:solidFill>
                  <a:schemeClr val="tx1">
                    <a:lumMod val="50000"/>
                  </a:schemeClr>
                </a:solidFill>
              </a:rPr>
              <a:t>분전반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 상태 및 제어를 </a:t>
            </a:r>
            <a:r>
              <a:rPr lang="en-US" altLang="ko-KR" sz="2400" b="1" dirty="0">
                <a:solidFill>
                  <a:schemeClr val="tx1">
                    <a:lumMod val="50000"/>
                  </a:schemeClr>
                </a:solidFill>
              </a:rPr>
              <a:t>CDMA </a:t>
            </a:r>
            <a:r>
              <a:rPr lang="ko-KR" altLang="en-US" sz="2400" b="1" dirty="0">
                <a:solidFill>
                  <a:schemeClr val="tx1">
                    <a:lumMod val="50000"/>
                  </a:schemeClr>
                </a:solidFill>
              </a:rPr>
              <a:t>모뎀을 통해서 제어 관제를 하는 구성도</a:t>
            </a:r>
            <a:endParaRPr lang="en-US" altLang="ko-KR" sz="2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5129" name="그룹 5128">
            <a:extLst>
              <a:ext uri="{FF2B5EF4-FFF2-40B4-BE49-F238E27FC236}">
                <a16:creationId xmlns:a16="http://schemas.microsoft.com/office/drawing/2014/main" id="{1DD5B8D6-E9A0-2831-70D6-E7929E54F88E}"/>
              </a:ext>
            </a:extLst>
          </p:cNvPr>
          <p:cNvGrpSpPr/>
          <p:nvPr/>
        </p:nvGrpSpPr>
        <p:grpSpPr>
          <a:xfrm>
            <a:off x="1191791" y="1673895"/>
            <a:ext cx="11834861" cy="5540044"/>
            <a:chOff x="1191791" y="1476246"/>
            <a:chExt cx="11834861" cy="5540044"/>
          </a:xfrm>
        </p:grpSpPr>
        <p:grpSp>
          <p:nvGrpSpPr>
            <p:cNvPr id="5125" name="그룹 5124">
              <a:extLst>
                <a:ext uri="{FF2B5EF4-FFF2-40B4-BE49-F238E27FC236}">
                  <a16:creationId xmlns:a16="http://schemas.microsoft.com/office/drawing/2014/main" id="{7B44F570-32E1-4316-8447-E7CB3A70D59F}"/>
                </a:ext>
              </a:extLst>
            </p:cNvPr>
            <p:cNvGrpSpPr/>
            <p:nvPr/>
          </p:nvGrpSpPr>
          <p:grpSpPr>
            <a:xfrm>
              <a:off x="1191791" y="1476246"/>
              <a:ext cx="11834861" cy="5540044"/>
              <a:chOff x="1238250" y="1822483"/>
              <a:chExt cx="7648575" cy="4526638"/>
            </a:xfrm>
          </p:grpSpPr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F15F2F84-6C1A-0DD1-8454-8641E7FD8100}"/>
                  </a:ext>
                </a:extLst>
              </p:cNvPr>
              <p:cNvSpPr/>
              <p:nvPr/>
            </p:nvSpPr>
            <p:spPr>
              <a:xfrm>
                <a:off x="1238250" y="1822483"/>
                <a:ext cx="7648575" cy="4526638"/>
              </a:xfrm>
              <a:prstGeom prst="round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pic>
            <p:nvPicPr>
              <p:cNvPr id="53" name="그림 52">
                <a:extLst>
                  <a:ext uri="{FF2B5EF4-FFF2-40B4-BE49-F238E27FC236}">
                    <a16:creationId xmlns:a16="http://schemas.microsoft.com/office/drawing/2014/main" id="{CB25DFEA-84E9-3C9D-A62E-65B12D528F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541" t="20014" r="37646" b="18932"/>
              <a:stretch>
                <a:fillRect/>
              </a:stretch>
            </p:blipFill>
            <p:spPr>
              <a:xfrm>
                <a:off x="1663731" y="2759085"/>
                <a:ext cx="2012919" cy="2785879"/>
              </a:xfrm>
              <a:prstGeom prst="rect">
                <a:avLst/>
              </a:prstGeom>
            </p:spPr>
          </p:pic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9396B9BA-6147-CB80-A813-E217E6650A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409" t="30256" r="31364" b="27540"/>
              <a:stretch>
                <a:fillRect/>
              </a:stretch>
            </p:blipFill>
            <p:spPr>
              <a:xfrm>
                <a:off x="3658998" y="2570412"/>
                <a:ext cx="427227" cy="666060"/>
              </a:xfrm>
              <a:prstGeom prst="rect">
                <a:avLst/>
              </a:prstGeom>
            </p:spPr>
          </p:pic>
          <p:pic>
            <p:nvPicPr>
              <p:cNvPr id="55" name="그림 54">
                <a:extLst>
                  <a:ext uri="{FF2B5EF4-FFF2-40B4-BE49-F238E27FC236}">
                    <a16:creationId xmlns:a16="http://schemas.microsoft.com/office/drawing/2014/main" id="{CC4A115A-A5FE-0806-11A5-EFD6C0F66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37019" y="2277865"/>
                <a:ext cx="878302" cy="1345358"/>
              </a:xfrm>
              <a:prstGeom prst="rect">
                <a:avLst/>
              </a:prstGeom>
            </p:spPr>
          </p:pic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279ADADA-FB2F-C34B-B186-B63C6D0A14AE}"/>
                  </a:ext>
                </a:extLst>
              </p:cNvPr>
              <p:cNvGrpSpPr/>
              <p:nvPr/>
            </p:nvGrpSpPr>
            <p:grpSpPr>
              <a:xfrm>
                <a:off x="4998651" y="2335006"/>
                <a:ext cx="1137899" cy="819019"/>
                <a:chOff x="3360351" y="2153202"/>
                <a:chExt cx="1137899" cy="819019"/>
              </a:xfrm>
            </p:grpSpPr>
            <p:pic>
              <p:nvPicPr>
                <p:cNvPr id="57" name="그림 56">
                  <a:extLst>
                    <a:ext uri="{FF2B5EF4-FFF2-40B4-BE49-F238E27FC236}">
                      <a16:creationId xmlns:a16="http://schemas.microsoft.com/office/drawing/2014/main" id="{D024CA27-7430-7D3F-954B-B0E8D09168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60351" y="2153202"/>
                  <a:ext cx="1137899" cy="819019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6CA41FA-1A82-B500-9653-05E425EACD54}"/>
                    </a:ext>
                  </a:extLst>
                </p:cNvPr>
                <p:cNvSpPr txBox="1"/>
                <p:nvPr/>
              </p:nvSpPr>
              <p:spPr>
                <a:xfrm>
                  <a:off x="3706894" y="2394455"/>
                  <a:ext cx="5341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defTabSz="457200" eaLnBrk="1" fontAlgn="auto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FontTx/>
                    <a:buNone/>
                  </a:pPr>
                  <a:r>
                    <a:rPr kumimoji="0" lang="en-US" altLang="ko-KR" sz="1800" b="1" dirty="0">
                      <a:solidFill>
                        <a:srgbClr val="ED7D31">
                          <a:lumMod val="75000"/>
                        </a:srgbClr>
                      </a:solidFill>
                      <a:latin typeface="Calibri" panose="020F0502020204030204"/>
                      <a:ea typeface="맑은 고딕" panose="020B0503020000020004" pitchFamily="50" charset="-127"/>
                    </a:rPr>
                    <a:t>SKT</a:t>
                  </a:r>
                  <a:endParaRPr kumimoji="0" lang="ko-KR" altLang="en-US" sz="1800" b="1" dirty="0">
                    <a:solidFill>
                      <a:srgbClr val="ED7D31">
                        <a:lumMod val="75000"/>
                      </a:srgbClr>
                    </a:solidFill>
                    <a:latin typeface="Calibri" panose="020F0502020204030204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9B8481B-93AA-79BE-3475-48B91FEE7BF0}"/>
                  </a:ext>
                </a:extLst>
              </p:cNvPr>
              <p:cNvSpPr txBox="1"/>
              <p:nvPr/>
            </p:nvSpPr>
            <p:spPr>
              <a:xfrm>
                <a:off x="2288758" y="5529921"/>
                <a:ext cx="7906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kumimoji="0" lang="ko-KR" altLang="en-US" sz="1800" dirty="0" err="1">
                    <a:solidFill>
                      <a:srgbClr val="4472C4">
                        <a:lumMod val="50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분전반</a:t>
                </a:r>
                <a:endParaRPr kumimoji="0" lang="ko-KR" altLang="en-US" sz="1800" dirty="0">
                  <a:solidFill>
                    <a:srgbClr val="4472C4">
                      <a:lumMod val="50000"/>
                    </a:srgb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AFBF193-4121-A550-1882-A5F102C7D7D6}"/>
                  </a:ext>
                </a:extLst>
              </p:cNvPr>
              <p:cNvSpPr txBox="1"/>
              <p:nvPr/>
            </p:nvSpPr>
            <p:spPr>
              <a:xfrm>
                <a:off x="3543845" y="3211750"/>
                <a:ext cx="88357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kumimoji="0" lang="en-US" altLang="ko-KR" sz="1100" dirty="0">
                    <a:solidFill>
                      <a:srgbClr val="ED7D31">
                        <a:lumMod val="75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CDMA</a:t>
                </a:r>
                <a:r>
                  <a:rPr kumimoji="0" lang="ko-KR" altLang="en-US" sz="1100" dirty="0">
                    <a:solidFill>
                      <a:srgbClr val="ED7D31">
                        <a:lumMod val="75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모뎀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2DADD2E-2E3C-5A13-581A-5763B391DB60}"/>
                  </a:ext>
                </a:extLst>
              </p:cNvPr>
              <p:cNvSpPr txBox="1"/>
              <p:nvPr/>
            </p:nvSpPr>
            <p:spPr>
              <a:xfrm>
                <a:off x="5254331" y="3185073"/>
                <a:ext cx="6559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kumimoji="0" lang="ko-KR" altLang="en-US" dirty="0">
                    <a:solidFill>
                      <a:srgbClr val="ED7D31">
                        <a:lumMod val="75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통신사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2A3CC98-7D5E-77C0-1CBD-509DE5B4C915}"/>
                  </a:ext>
                </a:extLst>
              </p:cNvPr>
              <p:cNvSpPr txBox="1"/>
              <p:nvPr/>
            </p:nvSpPr>
            <p:spPr>
              <a:xfrm>
                <a:off x="7157720" y="3623223"/>
                <a:ext cx="65594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kumimoji="0" lang="ko-KR" altLang="en-US" dirty="0">
                    <a:solidFill>
                      <a:srgbClr val="ED7D31">
                        <a:lumMod val="75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핸드폰</a:t>
                </a:r>
              </a:p>
            </p:txBody>
          </p:sp>
          <p:pic>
            <p:nvPicPr>
              <p:cNvPr id="63" name="그림 62">
                <a:extLst>
                  <a:ext uri="{FF2B5EF4-FFF2-40B4-BE49-F238E27FC236}">
                    <a16:creationId xmlns:a16="http://schemas.microsoft.com/office/drawing/2014/main" id="{07A38B74-B2DD-AD38-6C37-E120F58FE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91791" y="4152024"/>
                <a:ext cx="1150478" cy="1395535"/>
              </a:xfrm>
              <a:prstGeom prst="rect">
                <a:avLst/>
              </a:prstGeom>
            </p:spPr>
          </p:pic>
          <p:sp>
            <p:nvSpPr>
              <p:cNvPr id="5120" name="TextBox 5119">
                <a:extLst>
                  <a:ext uri="{FF2B5EF4-FFF2-40B4-BE49-F238E27FC236}">
                    <a16:creationId xmlns:a16="http://schemas.microsoft.com/office/drawing/2014/main" id="{16ABE645-3BB4-5FD7-AC44-C717BA75ED85}"/>
                  </a:ext>
                </a:extLst>
              </p:cNvPr>
              <p:cNvSpPr txBox="1"/>
              <p:nvPr/>
            </p:nvSpPr>
            <p:spPr>
              <a:xfrm>
                <a:off x="7157720" y="5614694"/>
                <a:ext cx="8643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defTabSz="457200"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Tx/>
                  <a:buNone/>
                </a:pPr>
                <a:r>
                  <a:rPr kumimoji="0" lang="ko-KR" altLang="en-US" dirty="0">
                    <a:solidFill>
                      <a:srgbClr val="ED7D31">
                        <a:lumMod val="75000"/>
                      </a:srgb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관제 서버</a:t>
                </a:r>
              </a:p>
            </p:txBody>
          </p:sp>
          <p:pic>
            <p:nvPicPr>
              <p:cNvPr id="5121" name="그림 5120">
                <a:extLst>
                  <a:ext uri="{FF2B5EF4-FFF2-40B4-BE49-F238E27FC236}">
                    <a16:creationId xmlns:a16="http://schemas.microsoft.com/office/drawing/2014/main" id="{FF343D93-07F9-6F1E-9269-0D070007D8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27420" y="2561082"/>
                <a:ext cx="480168" cy="592943"/>
              </a:xfrm>
              <a:prstGeom prst="rect">
                <a:avLst/>
              </a:prstGeom>
            </p:spPr>
          </p:pic>
          <p:pic>
            <p:nvPicPr>
              <p:cNvPr id="5123" name="그림 5122">
                <a:extLst>
                  <a:ext uri="{FF2B5EF4-FFF2-40B4-BE49-F238E27FC236}">
                    <a16:creationId xmlns:a16="http://schemas.microsoft.com/office/drawing/2014/main" id="{9F61AD59-10B0-CB8E-FDED-C0F59CEE40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9616" y="2561082"/>
                <a:ext cx="480168" cy="592943"/>
              </a:xfrm>
              <a:prstGeom prst="rect">
                <a:avLst/>
              </a:prstGeom>
            </p:spPr>
          </p:pic>
          <p:pic>
            <p:nvPicPr>
              <p:cNvPr id="5124" name="그림 5123">
                <a:extLst>
                  <a:ext uri="{FF2B5EF4-FFF2-40B4-BE49-F238E27FC236}">
                    <a16:creationId xmlns:a16="http://schemas.microsoft.com/office/drawing/2014/main" id="{833AFD86-9D63-30EB-952D-1E799F784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99616" y="4290056"/>
                <a:ext cx="480168" cy="592943"/>
              </a:xfrm>
              <a:prstGeom prst="rect">
                <a:avLst/>
              </a:prstGeom>
            </p:spPr>
          </p:pic>
        </p:grpSp>
        <p:grpSp>
          <p:nvGrpSpPr>
            <p:cNvPr id="5126" name="그룹 5125">
              <a:extLst>
                <a:ext uri="{FF2B5EF4-FFF2-40B4-BE49-F238E27FC236}">
                  <a16:creationId xmlns:a16="http://schemas.microsoft.com/office/drawing/2014/main" id="{FCC25456-9EFF-8965-186B-0655A0C4D4DD}"/>
                </a:ext>
              </a:extLst>
            </p:cNvPr>
            <p:cNvGrpSpPr/>
            <p:nvPr/>
          </p:nvGrpSpPr>
          <p:grpSpPr>
            <a:xfrm>
              <a:off x="6304359" y="3701694"/>
              <a:ext cx="2193468" cy="1002378"/>
              <a:chOff x="6543982" y="2084664"/>
              <a:chExt cx="2165096" cy="1081172"/>
            </a:xfrm>
          </p:grpSpPr>
          <p:pic>
            <p:nvPicPr>
              <p:cNvPr id="5127" name="Picture 8">
                <a:extLst>
                  <a:ext uri="{FF2B5EF4-FFF2-40B4-BE49-F238E27FC236}">
                    <a16:creationId xmlns:a16="http://schemas.microsoft.com/office/drawing/2014/main" id="{B128572F-A937-9B14-C953-D16B84AE0D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43982" y="2084664"/>
                <a:ext cx="1012404" cy="10124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28" name="Picture 10" descr="Wifi logo - Free signs icons">
                <a:extLst>
                  <a:ext uri="{FF2B5EF4-FFF2-40B4-BE49-F238E27FC236}">
                    <a16:creationId xmlns:a16="http://schemas.microsoft.com/office/drawing/2014/main" id="{14A3828E-5C82-2E38-FE5A-B5DD8C0FD7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7906" y="2084664"/>
                <a:ext cx="1081172" cy="10811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219591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9719-0146-4BEF-14C5-2A5E9BF7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691A850F-F8FA-8A3B-24D8-A3C0B7196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9" y="233735"/>
            <a:ext cx="2194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2400" b="1" dirty="0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제품 통신 구조</a:t>
            </a:r>
            <a:endParaRPr lang="en-US" altLang="ko-KR" sz="2400" b="1" dirty="0">
              <a:solidFill>
                <a:srgbClr val="00006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08E63F70-A90E-741B-0607-3371CE4811A3}"/>
              </a:ext>
            </a:extLst>
          </p:cNvPr>
          <p:cNvGrpSpPr/>
          <p:nvPr/>
        </p:nvGrpSpPr>
        <p:grpSpPr>
          <a:xfrm>
            <a:off x="687735" y="953815"/>
            <a:ext cx="4962332" cy="6120680"/>
            <a:chOff x="1781108" y="1497577"/>
            <a:chExt cx="4271900" cy="442126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1E1AA39-51DC-5A4C-C378-EE9A5AB5D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541" t="25424" r="46856" b="12599"/>
            <a:stretch>
              <a:fillRect/>
            </a:stretch>
          </p:blipFill>
          <p:spPr>
            <a:xfrm>
              <a:off x="1781108" y="2288176"/>
              <a:ext cx="2734322" cy="345341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B725FB49-1604-4B2E-341A-9B6B3DC54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06905" y="2727853"/>
              <a:ext cx="1195524" cy="896643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35AF8E6-DB6F-71FC-9940-0E544F5C2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97524" y="4150434"/>
              <a:ext cx="846310" cy="599793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2C32A14-6736-F4D7-895F-37B86335DCCF}"/>
                </a:ext>
              </a:extLst>
            </p:cNvPr>
            <p:cNvGrpSpPr/>
            <p:nvPr/>
          </p:nvGrpSpPr>
          <p:grpSpPr>
            <a:xfrm>
              <a:off x="3734196" y="1497577"/>
              <a:ext cx="1038688" cy="1012997"/>
              <a:chOff x="2361460" y="1144736"/>
              <a:chExt cx="1038688" cy="1012997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FE96B4D4-067B-E072-35E2-C5E219655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71648" y="1201968"/>
                <a:ext cx="818312" cy="828498"/>
              </a:xfrm>
              <a:prstGeom prst="rect">
                <a:avLst/>
              </a:prstGeom>
            </p:spPr>
          </p:pic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F0DF4E48-863C-E171-A292-19D6993E92E6}"/>
                  </a:ext>
                </a:extLst>
              </p:cNvPr>
              <p:cNvSpPr/>
              <p:nvPr/>
            </p:nvSpPr>
            <p:spPr>
              <a:xfrm>
                <a:off x="2361460" y="1144736"/>
                <a:ext cx="1038688" cy="1012997"/>
              </a:xfrm>
              <a:prstGeom prst="ellipse">
                <a:avLst/>
              </a:prstGeom>
              <a:noFill/>
              <a:ln w="76200" cap="flat" cmpd="sng" algn="ctr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2454F1E-DB06-03CB-ADB7-04D49733011A}"/>
                </a:ext>
              </a:extLst>
            </p:cNvPr>
            <p:cNvSpPr txBox="1"/>
            <p:nvPr/>
          </p:nvSpPr>
          <p:spPr>
            <a:xfrm>
              <a:off x="4684017" y="2035235"/>
              <a:ext cx="1120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457200"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r>
                <a:rPr kumimoji="0" lang="en-US" altLang="ko-KR" sz="1800" b="1" spc="-150" dirty="0">
                  <a:solidFill>
                    <a:srgbClr val="FFC000">
                      <a:lumMod val="75000"/>
                    </a:srgb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GPS</a:t>
              </a:r>
              <a:r>
                <a:rPr kumimoji="0" lang="ko-KR" altLang="en-US" sz="1800" b="1" spc="-150" dirty="0">
                  <a:solidFill>
                    <a:srgbClr val="FFC000">
                      <a:lumMod val="75000"/>
                    </a:srgb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안테나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284A58E-7591-CAB5-2AAC-D8DD7F4E0B62}"/>
                </a:ext>
              </a:extLst>
            </p:cNvPr>
            <p:cNvSpPr txBox="1"/>
            <p:nvPr/>
          </p:nvSpPr>
          <p:spPr>
            <a:xfrm>
              <a:off x="4856847" y="4725219"/>
              <a:ext cx="119616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 spc="-150">
                  <a:solidFill>
                    <a:schemeClr val="accent4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</a:lstStyle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GPS </a:t>
              </a:r>
              <a:r>
                <a:rPr kumimoji="0" lang="ko-KR" altLang="en-US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이동 추적을 위한</a:t>
              </a:r>
              <a:endParaRPr kumimoji="0" lang="en-US" altLang="ko-KR" sz="1100" b="0" i="0" u="none" strike="noStrike" kern="0" cap="none" spc="-15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ea typeface="KoPub돋움체 Bold" panose="00000800000000000000" pitchFamily="2" charset="-127"/>
              </a:endParaRPr>
            </a:p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충전 배터리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1CAB36-19C6-11FE-8DD7-B6479E08FD2F}"/>
                </a:ext>
              </a:extLst>
            </p:cNvPr>
            <p:cNvSpPr txBox="1"/>
            <p:nvPr/>
          </p:nvSpPr>
          <p:spPr>
            <a:xfrm>
              <a:off x="4856847" y="3569147"/>
              <a:ext cx="115929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 spc="-150">
                  <a:solidFill>
                    <a:schemeClr val="accent4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</a:lstStyle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Main board</a:t>
              </a:r>
              <a:b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</a:b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-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센서 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Interface</a:t>
              </a:r>
              <a:endPara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C000">
                    <a:lumMod val="75000"/>
                  </a:srgbClr>
                </a:solidFill>
                <a:effectLst/>
                <a:uLnTx/>
                <a:uFillTx/>
                <a:ea typeface="KoPub돋움체 Bold" panose="00000800000000000000" pitchFamily="2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924AE1C1-1E1D-05B8-9018-CD0F96922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9473" y="4898815"/>
              <a:ext cx="708134" cy="671295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8B20A5-ACE0-E7AB-4134-5951D39C758B}"/>
                </a:ext>
              </a:extLst>
            </p:cNvPr>
            <p:cNvSpPr txBox="1"/>
            <p:nvPr/>
          </p:nvSpPr>
          <p:spPr>
            <a:xfrm>
              <a:off x="4395464" y="5313003"/>
              <a:ext cx="11160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 spc="-150">
                  <a:solidFill>
                    <a:schemeClr val="accent4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</a:lstStyle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-150" normalizeH="0" baseline="0" noProof="0" dirty="0" err="1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RFTag</a:t>
              </a:r>
              <a:r>
                <a:rPr kumimoji="0" lang="ko-KR" altLang="en-US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 </a:t>
              </a:r>
              <a:r>
                <a:rPr kumimoji="0" lang="en-US" altLang="ko-KR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- </a:t>
              </a:r>
              <a:r>
                <a:rPr kumimoji="0" lang="ko-KR" altLang="en-US" sz="1100" b="0" i="0" u="none" strike="noStrike" kern="0" cap="none" spc="-15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자산관리용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8EF3BCA6-C2D4-4F05-16DC-A4FEA66A041D}"/>
                </a:ext>
              </a:extLst>
            </p:cNvPr>
            <p:cNvCxnSpPr>
              <a:cxnSpLocks/>
            </p:cNvCxnSpPr>
            <p:nvPr/>
          </p:nvCxnSpPr>
          <p:spPr>
            <a:xfrm>
              <a:off x="5231524" y="3871353"/>
              <a:ext cx="0" cy="287059"/>
            </a:xfrm>
            <a:prstGeom prst="line">
              <a:avLst/>
            </a:prstGeom>
            <a:noFill/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321EDCCF-77B4-F525-41DA-A195E85F862C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rot="16200000" flipH="1">
              <a:off x="4324455" y="2793725"/>
              <a:ext cx="665602" cy="99298"/>
            </a:xfrm>
            <a:prstGeom prst="bentConnector2">
              <a:avLst/>
            </a:prstGeom>
            <a:noFill/>
            <a:ln w="635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57AFCDB-B154-B7D3-D4FE-2BFA8A7B727C}"/>
                </a:ext>
              </a:extLst>
            </p:cNvPr>
            <p:cNvSpPr txBox="1"/>
            <p:nvPr/>
          </p:nvSpPr>
          <p:spPr>
            <a:xfrm>
              <a:off x="2815485" y="5580288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b="1" spc="-150">
                  <a:solidFill>
                    <a:schemeClr val="accent4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defRPr>
              </a:lvl1pPr>
            </a:lstStyle>
            <a:p>
              <a:pPr marL="0" marR="0" lvl="0" indent="0" algn="l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0" cap="none" spc="-150" normalizeH="0" baseline="0" noProof="0">
                  <a:ln>
                    <a:noFill/>
                  </a:ln>
                  <a:solidFill>
                    <a:srgbClr val="44546A">
                      <a:lumMod val="75000"/>
                    </a:srgbClr>
                  </a:solidFill>
                  <a:effectLst/>
                  <a:uLnTx/>
                  <a:uFillTx/>
                  <a:ea typeface="KoPub돋움체 Bold" panose="00000800000000000000" pitchFamily="2" charset="-127"/>
                </a:rPr>
                <a:t>분전함</a:t>
              </a:r>
              <a:endParaRPr kumimoji="0" lang="ko-KR" altLang="en-US" sz="1600" b="0" i="0" u="none" strike="noStrike" kern="0" cap="none" spc="-150" normalizeH="0" baseline="0" noProof="0" dirty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ea typeface="KoPub돋움체 Bold" panose="00000800000000000000" pitchFamily="2" charset="-127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DDE184E-4BB9-F8EB-2A42-08C706F57C61}"/>
              </a:ext>
            </a:extLst>
          </p:cNvPr>
          <p:cNvSpPr txBox="1"/>
          <p:nvPr/>
        </p:nvSpPr>
        <p:spPr>
          <a:xfrm>
            <a:off x="6314039" y="2656976"/>
            <a:ext cx="7806245" cy="2676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en-US" altLang="ko-KR" sz="1800" b="1" dirty="0">
                <a:solidFill>
                  <a:srgbClr val="0070C0"/>
                </a:solidFill>
                <a:latin typeface="+mj-ea"/>
                <a:ea typeface="+mj-ea"/>
              </a:rPr>
              <a:t>. CDMA </a:t>
            </a:r>
            <a:r>
              <a:rPr kumimoji="0" lang="ko-KR" altLang="en-US" sz="1800" b="1" dirty="0">
                <a:solidFill>
                  <a:srgbClr val="0070C0"/>
                </a:solidFill>
                <a:latin typeface="+mj-ea"/>
                <a:ea typeface="+mj-ea"/>
              </a:rPr>
              <a:t>모뎀 및 </a:t>
            </a:r>
            <a:r>
              <a:rPr kumimoji="0" lang="en-US" altLang="ko-KR" sz="1800" b="1" dirty="0">
                <a:solidFill>
                  <a:srgbClr val="0070C0"/>
                </a:solidFill>
                <a:latin typeface="+mj-ea"/>
                <a:ea typeface="+mj-ea"/>
              </a:rPr>
              <a:t>GPS </a:t>
            </a:r>
            <a:r>
              <a:rPr kumimoji="0" lang="ko-KR" altLang="en-US" sz="1800" b="1" dirty="0">
                <a:solidFill>
                  <a:srgbClr val="0070C0"/>
                </a:solidFill>
                <a:latin typeface="+mj-ea"/>
                <a:ea typeface="+mj-ea"/>
              </a:rPr>
              <a:t>연결 메인보드</a:t>
            </a:r>
            <a:endParaRPr kumimoji="0" lang="en-US" altLang="ko-KR" sz="1800" b="1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285750" indent="-285750"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600" b="1" dirty="0" err="1">
                <a:latin typeface="+mj-ea"/>
                <a:ea typeface="+mj-ea"/>
              </a:rPr>
              <a:t>분전반에서</a:t>
            </a:r>
            <a:r>
              <a:rPr kumimoji="0" lang="ko-KR" altLang="en-US" sz="1600" b="1" dirty="0">
                <a:latin typeface="+mj-ea"/>
                <a:ea typeface="+mj-ea"/>
              </a:rPr>
              <a:t> 모니터링이 필요한 부분에 입력</a:t>
            </a:r>
            <a:r>
              <a:rPr kumimoji="0" lang="en-US" altLang="ko-KR" sz="1600" b="1" dirty="0">
                <a:latin typeface="+mj-ea"/>
                <a:ea typeface="+mj-ea"/>
              </a:rPr>
              <a:t>(</a:t>
            </a:r>
            <a:r>
              <a:rPr kumimoji="0" lang="ko-KR" altLang="en-US" sz="1600" b="1" dirty="0">
                <a:latin typeface="+mj-ea"/>
                <a:ea typeface="+mj-ea"/>
              </a:rPr>
              <a:t>통신</a:t>
            </a:r>
            <a:r>
              <a:rPr kumimoji="0" lang="en-US" altLang="ko-KR" sz="1600" b="1" dirty="0">
                <a:latin typeface="+mj-ea"/>
                <a:ea typeface="+mj-ea"/>
              </a:rPr>
              <a:t>,</a:t>
            </a:r>
            <a:r>
              <a:rPr kumimoji="0" lang="ko-KR" altLang="en-US" sz="1600" b="1" dirty="0">
                <a:latin typeface="+mj-ea"/>
                <a:ea typeface="+mj-ea"/>
              </a:rPr>
              <a:t>접점</a:t>
            </a:r>
            <a:r>
              <a:rPr kumimoji="0" lang="en-US" altLang="ko-KR" sz="1600" b="1" dirty="0">
                <a:latin typeface="+mj-ea"/>
                <a:ea typeface="+mj-ea"/>
              </a:rPr>
              <a:t>)</a:t>
            </a:r>
            <a:r>
              <a:rPr kumimoji="0" lang="ko-KR" altLang="en-US" sz="1600" b="1" dirty="0">
                <a:latin typeface="+mj-ea"/>
                <a:ea typeface="+mj-ea"/>
              </a:rPr>
              <a:t>을</a:t>
            </a:r>
            <a:r>
              <a:rPr kumimoji="0" lang="en-US" altLang="ko-KR" sz="1600" b="1" dirty="0">
                <a:latin typeface="+mj-ea"/>
                <a:ea typeface="+mj-ea"/>
              </a:rPr>
              <a:t>  </a:t>
            </a:r>
            <a:r>
              <a:rPr kumimoji="0" lang="ko-KR" altLang="en-US" sz="1600" b="1" dirty="0">
                <a:latin typeface="+mj-ea"/>
                <a:ea typeface="+mj-ea"/>
              </a:rPr>
              <a:t>받아</a:t>
            </a:r>
            <a:endParaRPr kumimoji="0" lang="en-US" altLang="ko-KR" sz="1600" b="1" dirty="0">
              <a:latin typeface="+mj-ea"/>
              <a:ea typeface="+mj-ea"/>
            </a:endParaRPr>
          </a:p>
          <a:p>
            <a:pPr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en-US" altLang="ko-KR" sz="1600" b="1" dirty="0">
                <a:latin typeface="+mj-ea"/>
                <a:ea typeface="+mj-ea"/>
              </a:rPr>
              <a:t>     </a:t>
            </a:r>
            <a:r>
              <a:rPr kumimoji="0" lang="ko-KR" altLang="en-US" sz="1600" b="1" dirty="0">
                <a:latin typeface="+mj-ea"/>
                <a:ea typeface="+mj-ea"/>
              </a:rPr>
              <a:t>메인보드에서 분석하여 정상 및 이상 여부를 판단</a:t>
            </a:r>
            <a:r>
              <a:rPr kumimoji="0" lang="en-US" altLang="ko-KR" sz="1600" b="1" dirty="0">
                <a:latin typeface="+mj-ea"/>
                <a:ea typeface="+mj-ea"/>
              </a:rPr>
              <a:t>. </a:t>
            </a:r>
            <a:r>
              <a:rPr kumimoji="0" lang="ko-KR" altLang="en-US" sz="1600" b="1" dirty="0">
                <a:latin typeface="+mj-ea"/>
                <a:ea typeface="+mj-ea"/>
              </a:rPr>
              <a:t>또는 </a:t>
            </a:r>
            <a:r>
              <a:rPr kumimoji="0" lang="en-US" altLang="ko-KR" sz="1600" b="1" dirty="0">
                <a:latin typeface="+mj-ea"/>
                <a:ea typeface="+mj-ea"/>
              </a:rPr>
              <a:t>Law </a:t>
            </a:r>
            <a:r>
              <a:rPr kumimoji="0" lang="ko-KR" altLang="en-US" sz="1600" b="1" dirty="0">
                <a:latin typeface="+mj-ea"/>
                <a:ea typeface="+mj-ea"/>
              </a:rPr>
              <a:t>데이터를 수집</a:t>
            </a:r>
            <a:endParaRPr kumimoji="0" lang="en-US" altLang="ko-KR" sz="1600" b="1" dirty="0">
              <a:latin typeface="+mj-ea"/>
              <a:ea typeface="+mj-ea"/>
            </a:endParaRPr>
          </a:p>
          <a:p>
            <a:pPr marL="285750" indent="-285750"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600" b="1" dirty="0">
                <a:latin typeface="+mj-ea"/>
                <a:ea typeface="+mj-ea"/>
              </a:rPr>
              <a:t>메인 보드에 수집된 정보를 </a:t>
            </a:r>
            <a:r>
              <a:rPr kumimoji="0" lang="en-US" altLang="ko-KR" sz="1600" b="1" dirty="0">
                <a:latin typeface="+mj-ea"/>
                <a:ea typeface="+mj-ea"/>
              </a:rPr>
              <a:t>LTE MODEM</a:t>
            </a:r>
            <a:r>
              <a:rPr kumimoji="0" lang="ko-KR" altLang="en-US" sz="1600" b="1" dirty="0">
                <a:latin typeface="+mj-ea"/>
                <a:ea typeface="+mj-ea"/>
              </a:rPr>
              <a:t>을</a:t>
            </a:r>
            <a:r>
              <a:rPr kumimoji="0" lang="en-US" altLang="ko-KR" sz="1600" b="1" dirty="0">
                <a:latin typeface="+mj-ea"/>
                <a:ea typeface="+mj-ea"/>
              </a:rPr>
              <a:t> </a:t>
            </a:r>
            <a:r>
              <a:rPr kumimoji="0" lang="ko-KR" altLang="en-US" sz="1600" b="1" dirty="0">
                <a:latin typeface="+mj-ea"/>
                <a:ea typeface="+mj-ea"/>
              </a:rPr>
              <a:t>통해 관제로 송신</a:t>
            </a:r>
            <a:r>
              <a:rPr kumimoji="0" lang="en-US" altLang="ko-KR" sz="1600" b="1" dirty="0">
                <a:latin typeface="+mj-ea"/>
                <a:ea typeface="+mj-ea"/>
              </a:rPr>
              <a:t>.</a:t>
            </a:r>
          </a:p>
          <a:p>
            <a:pPr marL="285750" indent="-285750"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600" b="1" dirty="0" err="1">
                <a:latin typeface="+mj-ea"/>
                <a:ea typeface="+mj-ea"/>
              </a:rPr>
              <a:t>분전반</a:t>
            </a:r>
            <a:r>
              <a:rPr kumimoji="0" lang="ko-KR" altLang="en-US" sz="1600" b="1" dirty="0">
                <a:latin typeface="+mj-ea"/>
                <a:ea typeface="+mj-ea"/>
              </a:rPr>
              <a:t> 위치는 </a:t>
            </a:r>
            <a:r>
              <a:rPr kumimoji="0" lang="en-US" altLang="ko-KR" sz="1600" b="1" dirty="0">
                <a:latin typeface="+mj-ea"/>
                <a:ea typeface="+mj-ea"/>
              </a:rPr>
              <a:t>GPS </a:t>
            </a:r>
            <a:r>
              <a:rPr kumimoji="0" lang="ko-KR" altLang="en-US" sz="1600" b="1" dirty="0">
                <a:latin typeface="+mj-ea"/>
                <a:ea typeface="+mj-ea"/>
              </a:rPr>
              <a:t>또는 </a:t>
            </a:r>
            <a:r>
              <a:rPr kumimoji="0" lang="en-US" altLang="ko-KR" sz="1600" b="1" dirty="0" err="1">
                <a:latin typeface="+mj-ea"/>
                <a:ea typeface="+mj-ea"/>
              </a:rPr>
              <a:t>RFTag</a:t>
            </a:r>
            <a:r>
              <a:rPr kumimoji="0" lang="ko-KR" altLang="en-US" sz="1600" b="1" dirty="0">
                <a:latin typeface="+mj-ea"/>
                <a:ea typeface="+mj-ea"/>
              </a:rPr>
              <a:t>를 이용하여 위치 파악</a:t>
            </a:r>
            <a:endParaRPr kumimoji="0" lang="en-US" altLang="ko-KR" sz="1600" b="1" dirty="0">
              <a:latin typeface="+mj-ea"/>
              <a:ea typeface="+mj-ea"/>
            </a:endParaRPr>
          </a:p>
          <a:p>
            <a:pPr marL="285750" indent="-285750"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600" b="1" dirty="0">
                <a:latin typeface="+mj-ea"/>
                <a:ea typeface="+mj-ea"/>
              </a:rPr>
              <a:t>메인보드는 수집된 정보를 통해 이상여부를 스피커</a:t>
            </a:r>
            <a:r>
              <a:rPr kumimoji="0" lang="en-US" altLang="ko-KR" sz="1600" b="1" dirty="0">
                <a:latin typeface="+mj-ea"/>
                <a:ea typeface="+mj-ea"/>
              </a:rPr>
              <a:t>, </a:t>
            </a:r>
            <a:r>
              <a:rPr kumimoji="0" lang="ko-KR" altLang="en-US" sz="1600" b="1" dirty="0" err="1">
                <a:latin typeface="+mj-ea"/>
                <a:ea typeface="+mj-ea"/>
              </a:rPr>
              <a:t>경광등을</a:t>
            </a:r>
            <a:r>
              <a:rPr kumimoji="0" lang="ko-KR" altLang="en-US" sz="1600" b="1" dirty="0">
                <a:latin typeface="+mj-ea"/>
                <a:ea typeface="+mj-ea"/>
              </a:rPr>
              <a:t> 통해 경고</a:t>
            </a:r>
            <a:endParaRPr kumimoji="0" lang="en-US" altLang="ko-KR" sz="1600" b="1" dirty="0">
              <a:latin typeface="+mj-ea"/>
              <a:ea typeface="+mj-ea"/>
            </a:endParaRPr>
          </a:p>
          <a:p>
            <a:pPr marL="285750" indent="-285750" algn="l" defTabSz="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kumimoji="0" lang="ko-KR" altLang="en-US" sz="1600" b="1" dirty="0">
                <a:latin typeface="+mj-ea"/>
                <a:ea typeface="+mj-ea"/>
              </a:rPr>
              <a:t>이상 여부를 작업자 개인 장비에 전송 하여 </a:t>
            </a:r>
            <a:r>
              <a:rPr kumimoji="0" lang="ko-KR" altLang="en-US" sz="1600" b="1" dirty="0" err="1">
                <a:latin typeface="+mj-ea"/>
                <a:ea typeface="+mj-ea"/>
              </a:rPr>
              <a:t>현상황</a:t>
            </a:r>
            <a:r>
              <a:rPr kumimoji="0" lang="ko-KR" altLang="en-US" sz="1600" b="1" dirty="0">
                <a:latin typeface="+mj-ea"/>
                <a:ea typeface="+mj-ea"/>
              </a:rPr>
              <a:t> 인지 </a:t>
            </a:r>
            <a:r>
              <a:rPr kumimoji="0" lang="ko-KR" altLang="en-US" sz="1600" b="1" dirty="0" err="1">
                <a:latin typeface="+mj-ea"/>
                <a:ea typeface="+mj-ea"/>
              </a:rPr>
              <a:t>할수</a:t>
            </a:r>
            <a:r>
              <a:rPr kumimoji="0" lang="ko-KR" altLang="en-US" sz="1600" b="1" dirty="0">
                <a:latin typeface="+mj-ea"/>
                <a:ea typeface="+mj-ea"/>
              </a:rPr>
              <a:t> 있도록 함</a:t>
            </a:r>
            <a:r>
              <a:rPr kumimoji="0" lang="en-US" altLang="ko-KR" sz="16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296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3765-79AF-F9C4-FD76-2A7027F7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567B0B55-1164-4A80-D30D-20A919BB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9" y="233735"/>
            <a:ext cx="3098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2400" b="1" dirty="0" err="1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분전반</a:t>
            </a:r>
            <a:r>
              <a:rPr lang="ko-KR" altLang="en-US" sz="2400" b="1" dirty="0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위치관리 방안</a:t>
            </a:r>
            <a:endParaRPr lang="en-US" altLang="ko-KR" sz="2400" b="1" dirty="0">
              <a:solidFill>
                <a:srgbClr val="00006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7CE9EC99-FF02-095F-1DB9-C84E40FB0B1A}"/>
              </a:ext>
            </a:extLst>
          </p:cNvPr>
          <p:cNvSpPr txBox="1">
            <a:spLocks/>
          </p:cNvSpPr>
          <p:nvPr/>
        </p:nvSpPr>
        <p:spPr>
          <a:xfrm>
            <a:off x="560597" y="889505"/>
            <a:ext cx="13376610" cy="712382"/>
          </a:xfrm>
          <a:prstGeom prst="rect">
            <a:avLst/>
          </a:prstGeom>
        </p:spPr>
        <p:txBody>
          <a:bodyPr/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b="1" dirty="0">
                <a:solidFill>
                  <a:srgbClr val="0070C0"/>
                </a:solidFill>
                <a:latin typeface="+mj-ea"/>
                <a:ea typeface="+mj-ea"/>
              </a:rPr>
              <a:t>실내에서는 </a:t>
            </a:r>
            <a:r>
              <a:rPr lang="en-US" altLang="ko-KR" sz="1800" b="1" dirty="0">
                <a:solidFill>
                  <a:srgbClr val="0070C0"/>
                </a:solidFill>
                <a:latin typeface="+mj-ea"/>
                <a:ea typeface="+mj-ea"/>
              </a:rPr>
              <a:t>GPS </a:t>
            </a:r>
            <a:r>
              <a:rPr lang="ko-KR" altLang="en-US" sz="1800" b="1" dirty="0">
                <a:solidFill>
                  <a:srgbClr val="0070C0"/>
                </a:solidFill>
                <a:latin typeface="+mj-ea"/>
                <a:ea typeface="+mj-ea"/>
              </a:rPr>
              <a:t>통신이 안되는 문제</a:t>
            </a:r>
            <a:endParaRPr lang="en-US" altLang="ko-KR" sz="1800" b="1" dirty="0">
              <a:solidFill>
                <a:srgbClr val="0070C0"/>
              </a:solidFill>
              <a:latin typeface="+mj-ea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latin typeface="+mj-ea"/>
                <a:ea typeface="+mj-ea"/>
              </a:rPr>
              <a:t>    -</a:t>
            </a:r>
            <a:r>
              <a:rPr lang="ko-KR" altLang="en-US" sz="1600" b="1" dirty="0">
                <a:latin typeface="+mj-ea"/>
                <a:ea typeface="+mj-ea"/>
              </a:rPr>
              <a:t> 통신이 되는 마지막 위치까지 확인을 한 후 </a:t>
            </a:r>
            <a:r>
              <a:rPr lang="en-US" altLang="ko-KR" sz="1600" b="1" dirty="0" err="1">
                <a:latin typeface="+mj-ea"/>
                <a:ea typeface="+mj-ea"/>
              </a:rPr>
              <a:t>RFTag</a:t>
            </a:r>
            <a:r>
              <a:rPr lang="ko-KR" altLang="en-US" sz="1600" b="1" dirty="0">
                <a:latin typeface="+mj-ea"/>
                <a:ea typeface="+mj-ea"/>
              </a:rPr>
              <a:t>를 통해서</a:t>
            </a:r>
            <a:r>
              <a:rPr lang="en-US" altLang="ko-KR" sz="1600" b="1" dirty="0">
                <a:latin typeface="+mj-ea"/>
                <a:ea typeface="+mj-ea"/>
              </a:rPr>
              <a:t> </a:t>
            </a:r>
            <a:r>
              <a:rPr lang="ko-KR" altLang="en-US" sz="1600" b="1" dirty="0">
                <a:latin typeface="+mj-ea"/>
                <a:ea typeface="+mj-ea"/>
              </a:rPr>
              <a:t>서버에 등록된 위치로 확인 하는 방안 </a:t>
            </a:r>
            <a:endParaRPr lang="en-US" altLang="ko-KR" sz="1600" b="1" dirty="0">
              <a:latin typeface="+mj-ea"/>
              <a:ea typeface="+mj-ea"/>
              <a:sym typeface="Wingdings" panose="05000000000000000000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DAA150C-E040-806F-1857-B4044978923D}"/>
              </a:ext>
            </a:extLst>
          </p:cNvPr>
          <p:cNvGrpSpPr/>
          <p:nvPr/>
        </p:nvGrpSpPr>
        <p:grpSpPr>
          <a:xfrm>
            <a:off x="1191791" y="2014584"/>
            <a:ext cx="10849075" cy="5484261"/>
            <a:chOff x="1296093" y="2014584"/>
            <a:chExt cx="7634843" cy="419606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D0B1F19-772E-D00E-E431-AADCCEB8B5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96093" y="2014584"/>
              <a:ext cx="7634843" cy="4196060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C74253B-E359-1227-1DAE-D8899885B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41" t="20014" r="37646" b="18932"/>
            <a:stretch>
              <a:fillRect/>
            </a:stretch>
          </p:blipFill>
          <p:spPr>
            <a:xfrm>
              <a:off x="4536809" y="3797311"/>
              <a:ext cx="580393" cy="803264"/>
            </a:xfrm>
            <a:prstGeom prst="rect">
              <a:avLst/>
            </a:prstGeom>
          </p:spPr>
        </p:pic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81BADB45-5276-65FA-1D79-12423E3A7325}"/>
                </a:ext>
              </a:extLst>
            </p:cNvPr>
            <p:cNvSpPr/>
            <p:nvPr/>
          </p:nvSpPr>
          <p:spPr>
            <a:xfrm>
              <a:off x="4438650" y="3724275"/>
              <a:ext cx="771525" cy="1009650"/>
            </a:xfrm>
            <a:prstGeom prst="roundRect">
              <a:avLst/>
            </a:prstGeom>
            <a:noFill/>
            <a:ln w="38100" cap="flat" cmpd="sng" algn="ctr">
              <a:solidFill>
                <a:srgbClr val="FFC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088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5FBC7-240E-A6DE-D22C-AC803CD4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>
            <a:extLst>
              <a:ext uri="{FF2B5EF4-FFF2-40B4-BE49-F238E27FC236}">
                <a16:creationId xmlns:a16="http://schemas.microsoft.com/office/drawing/2014/main" id="{04D9050A-BC3A-A427-9EC2-E3CFD188C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19" y="233735"/>
            <a:ext cx="179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algn="just">
              <a:lnSpc>
                <a:spcPct val="110000"/>
              </a:lnSpc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algn="just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 typeface="Tahoma" panose="020B0604030504040204" pitchFamily="34" charset="0"/>
              <a:buChar char="Ø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ko-KR" altLang="en-US" sz="2400" b="1" dirty="0">
                <a:solidFill>
                  <a:srgbClr val="000066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분전함 초안</a:t>
            </a:r>
            <a:endParaRPr lang="en-US" altLang="ko-KR" sz="2400" b="1" dirty="0">
              <a:solidFill>
                <a:srgbClr val="000066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E86C57E-6473-DAF1-5C04-AB5B02F8F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7" y="786562"/>
            <a:ext cx="3473343" cy="36724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97B2DB-1480-63C8-F4A8-9702B7037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88" y="762231"/>
            <a:ext cx="2016224" cy="36815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2A2303-45D3-83DB-10E3-221285543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2084" y="710007"/>
            <a:ext cx="2195203" cy="382551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5A5D43-1BD1-8FA0-1E07-F2B9AFC79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686" y="786562"/>
            <a:ext cx="2533230" cy="39169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0C4B2B-18C0-91B6-4797-AACE6E6647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8895" y="695400"/>
            <a:ext cx="3291472" cy="456201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BF122C-2AF9-3518-74E7-DF8F4DD6EB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130" y="4429353"/>
            <a:ext cx="2938320" cy="36815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DAE34AB-1F6C-AE4E-BB27-26A39EF59A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5398" y="4429353"/>
            <a:ext cx="2849001" cy="357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3255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20514</TotalTime>
  <Words>181</Words>
  <Application>Microsoft Office PowerPoint</Application>
  <PresentationFormat>사용자 지정</PresentationFormat>
  <Paragraphs>30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HY헤드라인M</vt:lpstr>
      <vt:lpstr>KoPub돋움체 Bold</vt:lpstr>
      <vt:lpstr>굴림</vt:lpstr>
      <vt:lpstr>나눔고딕</vt:lpstr>
      <vt:lpstr>맑은 고딕</vt:lpstr>
      <vt:lpstr>Arial</vt:lpstr>
      <vt:lpstr>Calibri</vt:lpstr>
      <vt:lpstr>Calibri Light</vt:lpstr>
      <vt:lpstr>Tahoma</vt:lpstr>
      <vt:lpstr>Verdana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김웅수</dc:creator>
  <cp:lastModifiedBy>진수 전</cp:lastModifiedBy>
  <cp:revision>895</cp:revision>
  <cp:lastPrinted>2025-06-08T14:30:56Z</cp:lastPrinted>
  <dcterms:created xsi:type="dcterms:W3CDTF">2003-11-06T00:16:42Z</dcterms:created>
  <dcterms:modified xsi:type="dcterms:W3CDTF">2025-10-29T14:34:01Z</dcterms:modified>
</cp:coreProperties>
</file>